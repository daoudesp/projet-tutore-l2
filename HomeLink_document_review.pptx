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8191500"/>
  <p:notesSz cx="81915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HomeLink — maquettes de la plateforme de recherche de logements à Dakar.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A : la recherche d'abord.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B : parcourir par quartier.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C : carte interactive.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de recherche.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 d'une 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Publier une annonce (propriétaire).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web — page d'accueil grand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web — tableau de bord administrateur.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0" y="-1143000"/>
            <a:ext cx="4953000" cy="4953000"/>
          </a:xfrm>
          <a:prstGeom prst="ellipse">
            <a:avLst/>
          </a:prstGeom>
          <a:solidFill>
            <a:srgbClr val="F6E7DF"/>
          </a:solidFill>
          <a:ln/>
        </p:spPr>
      </p:sp>
      <p:sp>
        <p:nvSpPr>
          <p:cNvPr id="3" name="Shape 1"/>
          <p:cNvSpPr/>
          <p:nvPr/>
        </p:nvSpPr>
        <p:spPr>
          <a:xfrm>
            <a:off x="8096250" y="6191250"/>
            <a:ext cx="2857500" cy="2857500"/>
          </a:xfrm>
          <a:prstGeom prst="ellipse">
            <a:avLst/>
          </a:prstGeom>
          <a:solidFill>
            <a:srgbClr val="E4F0E8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2358926"/>
            <a:ext cx="590550" cy="590550"/>
          </a:xfrm>
          <a:prstGeom prst="roundRect">
            <a:avLst>
              <a:gd name="adj" fmla="val 27419"/>
            </a:avLst>
          </a:prstGeom>
          <a:solidFill>
            <a:srgbClr val="C25A36"/>
          </a:solidFill>
          <a:ln/>
          <a:effectLst>
            <a:outerShdw sx="100000" sy="100000" kx="0" ky="0" algn="bl" rotWithShape="0" blurRad="266700" dist="114300" dir="5400000">
              <a:srgbClr val="C25A36">
                <a:alpha val="6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25" y="250180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90700" y="2435126"/>
            <a:ext cx="18197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HomeLink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47750" y="3197126"/>
            <a:ext cx="111061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Dalal ak jàmm · Bienvenue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47750" y="3497163"/>
            <a:ext cx="804481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b="1" spc="-98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de la plateforme de recherche de logements à </a:t>
            </a:r>
            <a:pPr algn="l" indent="0" marL="0">
              <a:lnSpc>
                <a:spcPct val="105000"/>
              </a:lnSpc>
              <a:buNone/>
            </a:pPr>
            <a:r>
              <a:rPr lang="en-US" sz="3900" b="1" spc="-98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Dakar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047750" y="4689574"/>
            <a:ext cx="58864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 et application mobile — des annonces vérifiées, des prix transparents, un contact direct propriétaire ↔ locataire.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47750" y="5470624"/>
            <a:ext cx="834479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9675" y="5565874"/>
            <a:ext cx="5868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écrans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96529" y="5470624"/>
            <a:ext cx="1143744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58454" y="5565874"/>
            <a:ext cx="8960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Web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54573" y="5470624"/>
            <a:ext cx="2095202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6498" y="5565874"/>
            <a:ext cx="18475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ESP Dakar · 2025/2026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72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FBF7F2"/>
          </a:solidFill>
          <a:ln/>
        </p:spPr>
      </p:sp>
      <p:sp>
        <p:nvSpPr>
          <p:cNvPr id="5" name="Text 3"/>
          <p:cNvSpPr/>
          <p:nvPr/>
        </p:nvSpPr>
        <p:spPr>
          <a:xfrm>
            <a:off x="1285875" y="657225"/>
            <a:ext cx="335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62400" y="681038"/>
            <a:ext cx="161925" cy="104775"/>
          </a:xfrm>
          <a:prstGeom prst="roundRect">
            <a:avLst>
              <a:gd name="adj" fmla="val 27273"/>
            </a:avLst>
          </a:prstGeom>
          <a:ln w="14288">
            <a:solidFill>
              <a:srgbClr val="2A21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90975" y="709613"/>
            <a:ext cx="76200" cy="47625"/>
          </a:xfrm>
          <a:prstGeom prst="roundRect">
            <a:avLst>
              <a:gd name="adj" fmla="val 20000"/>
            </a:avLst>
          </a:prstGeom>
          <a:solidFill>
            <a:srgbClr val="2A211B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959644"/>
            <a:ext cx="12436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8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7775" y="1116806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275" y="1107281"/>
            <a:ext cx="105318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Dakar, Sénégal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3781425" y="923925"/>
            <a:ext cx="381000" cy="381000"/>
          </a:xfrm>
          <a:prstGeom prst="ellipse">
            <a:avLst/>
          </a:prstGeom>
          <a:solidFill>
            <a:srgbClr val="EADFD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7775" y="1476375"/>
            <a:ext cx="32061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Dalal ak jàmm 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247775" y="1709738"/>
            <a:ext cx="300209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spc="-4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Trouvez votre logement à Dakar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247775" y="2427536"/>
            <a:ext cx="2914650" cy="571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228600" dist="76200" dir="5400000">
              <a:srgbClr val="3C1E0A">
                <a:alpha val="2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700" y="2618036"/>
            <a:ext cx="190500" cy="190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5450" y="2627561"/>
            <a:ext cx="20745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Quartier, type…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76650" y="2513261"/>
            <a:ext cx="400050" cy="400050"/>
          </a:xfrm>
          <a:prstGeom prst="roundRect">
            <a:avLst>
              <a:gd name="adj" fmla="val 30952"/>
            </a:avLst>
          </a:prstGeom>
          <a:solidFill>
            <a:srgbClr val="C25A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6188" y="2622798"/>
            <a:ext cx="180975" cy="1809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247775" y="3151436"/>
            <a:ext cx="528265" cy="333375"/>
          </a:xfrm>
          <a:prstGeom prst="roundRect">
            <a:avLst>
              <a:gd name="adj" fmla="val 50000"/>
            </a:avLst>
          </a:prstGeom>
          <a:solidFill>
            <a:srgbClr val="C25A36"/>
          </a:solidFill>
          <a:ln/>
        </p:spPr>
      </p:sp>
      <p:sp>
        <p:nvSpPr>
          <p:cNvPr id="20" name="Text 15"/>
          <p:cNvSpPr/>
          <p:nvPr/>
        </p:nvSpPr>
        <p:spPr>
          <a:xfrm>
            <a:off x="1381125" y="3227636"/>
            <a:ext cx="3377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</a:t>
            </a:r>
            <a:endParaRPr lang="en-US" sz="975" dirty="0"/>
          </a:p>
        </p:txBody>
      </p:sp>
      <p:sp>
        <p:nvSpPr>
          <p:cNvPr id="21" name="Shape 16"/>
          <p:cNvSpPr/>
          <p:nvPr/>
        </p:nvSpPr>
        <p:spPr>
          <a:xfrm>
            <a:off x="1852240" y="3151436"/>
            <a:ext cx="796528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995115" y="3237161"/>
            <a:ext cx="5869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2724969" y="3151436"/>
            <a:ext cx="634454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867844" y="3237161"/>
            <a:ext cx="4249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3435623" y="3151436"/>
            <a:ext cx="699864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78498" y="3237161"/>
            <a:ext cx="4903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Appart.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1247775" y="3713411"/>
            <a:ext cx="16145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récentes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3694435" y="3756273"/>
            <a:ext cx="5441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voir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1247775" y="4046786"/>
            <a:ext cx="1809750" cy="19812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257300" y="4056311"/>
            <a:ext cx="1790700" cy="1123950"/>
          </a:xfrm>
          <a:prstGeom prst="rect">
            <a:avLst/>
          </a:prstGeom>
          <a:solidFill>
            <a:srgbClr val="EFE6DB"/>
          </a:solidFill>
          <a:ln/>
        </p:spPr>
      </p:sp>
      <p:sp>
        <p:nvSpPr>
          <p:cNvPr id="31" name="Shape 26"/>
          <p:cNvSpPr/>
          <p:nvPr/>
        </p:nvSpPr>
        <p:spPr>
          <a:xfrm>
            <a:off x="1352550" y="4151561"/>
            <a:ext cx="660722" cy="20002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32" name="Text 27"/>
          <p:cNvSpPr/>
          <p:nvPr/>
        </p:nvSpPr>
        <p:spPr>
          <a:xfrm>
            <a:off x="1438275" y="4189661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1381125" y="5294561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</a:t>
            </a:r>
            <a:endParaRPr lang="en-US" sz="1125" dirty="0"/>
          </a:p>
        </p:txBody>
      </p:sp>
      <p:sp>
        <p:nvSpPr>
          <p:cNvPr id="34" name="Text 29"/>
          <p:cNvSpPr/>
          <p:nvPr/>
        </p:nvSpPr>
        <p:spPr>
          <a:xfrm>
            <a:off x="1381125" y="5475536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 · 25 m²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1381125" y="5723186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 </a:t>
            </a:r>
            <a:pPr algn="l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FCFA/mois</a:t>
            </a:r>
            <a:endParaRPr lang="en-US" sz="1125" dirty="0"/>
          </a:p>
        </p:txBody>
      </p:sp>
      <p:sp>
        <p:nvSpPr>
          <p:cNvPr id="36" name="Shape 31"/>
          <p:cNvSpPr/>
          <p:nvPr/>
        </p:nvSpPr>
        <p:spPr>
          <a:xfrm>
            <a:off x="3190875" y="4046786"/>
            <a:ext cx="1809750" cy="198120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3200400" y="4056311"/>
            <a:ext cx="1790700" cy="1123950"/>
          </a:xfrm>
          <a:prstGeom prst="rect">
            <a:avLst/>
          </a:prstGeom>
          <a:solidFill>
            <a:srgbClr val="ECE7DC"/>
          </a:solidFill>
          <a:ln/>
        </p:spPr>
      </p:sp>
      <p:sp>
        <p:nvSpPr>
          <p:cNvPr id="38" name="Shape 33"/>
          <p:cNvSpPr/>
          <p:nvPr/>
        </p:nvSpPr>
        <p:spPr>
          <a:xfrm>
            <a:off x="3295650" y="4151561"/>
            <a:ext cx="829419" cy="200025"/>
          </a:xfrm>
          <a:prstGeom prst="roundRect">
            <a:avLst>
              <a:gd name="adj" fmla="val 50000"/>
            </a:avLst>
          </a:prstGeom>
          <a:solidFill>
            <a:srgbClr val="F6E7DF"/>
          </a:solidFill>
          <a:ln/>
        </p:spPr>
      </p:sp>
      <p:sp>
        <p:nvSpPr>
          <p:cNvPr id="39" name="Text 34"/>
          <p:cNvSpPr/>
          <p:nvPr/>
        </p:nvSpPr>
        <p:spPr>
          <a:xfrm>
            <a:off x="3381375" y="4189661"/>
            <a:ext cx="734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Proche UCAD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3324225" y="5294561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 étud.</a:t>
            </a:r>
            <a:endParaRPr lang="en-US" sz="1125" dirty="0"/>
          </a:p>
        </p:txBody>
      </p:sp>
      <p:sp>
        <p:nvSpPr>
          <p:cNvPr id="41" name="Text 36"/>
          <p:cNvSpPr/>
          <p:nvPr/>
        </p:nvSpPr>
        <p:spPr>
          <a:xfrm>
            <a:off x="3324225" y="5475536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Fann · 14 m²</a:t>
            </a:r>
            <a:endParaRPr lang="en-US" sz="975" dirty="0"/>
          </a:p>
        </p:txBody>
      </p:sp>
      <p:sp>
        <p:nvSpPr>
          <p:cNvPr id="42" name="Text 37"/>
          <p:cNvSpPr/>
          <p:nvPr/>
        </p:nvSpPr>
        <p:spPr>
          <a:xfrm>
            <a:off x="3324225" y="5723186"/>
            <a:ext cx="1697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 </a:t>
            </a:r>
            <a:pPr algn="l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FCFA/mois</a:t>
            </a:r>
            <a:endParaRPr lang="en-US" sz="1125" dirty="0"/>
          </a:p>
        </p:txBody>
      </p:sp>
      <p:sp>
        <p:nvSpPr>
          <p:cNvPr id="43" name="Shape 38"/>
          <p:cNvSpPr/>
          <p:nvPr/>
        </p:nvSpPr>
        <p:spPr>
          <a:xfrm>
            <a:off x="1057275" y="6972300"/>
            <a:ext cx="3295650" cy="70485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1057275" y="6972300"/>
            <a:ext cx="3295650" cy="9525"/>
          </a:xfrm>
          <a:prstGeom prst="rect">
            <a:avLst/>
          </a:prstGeom>
          <a:solidFill>
            <a:srgbClr val="F0E8DD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0512" y="7086600"/>
            <a:ext cx="200025" cy="200025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307009" y="7324725"/>
            <a:ext cx="38330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75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1080" y="7086600"/>
            <a:ext cx="200025" cy="200025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846957" y="7324725"/>
            <a:ext cx="5244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2527995" y="6934200"/>
            <a:ext cx="476250" cy="476250"/>
          </a:xfrm>
          <a:prstGeom prst="ellipse">
            <a:avLst/>
          </a:prstGeom>
          <a:solidFill>
            <a:srgbClr val="C25A36"/>
          </a:solidFill>
          <a:ln/>
          <a:effectLst>
            <a:outerShdw sx="100000" sy="100000" kx="0" ky="0" algn="bl" rotWithShape="0" blurRad="209550" dist="95250" dir="5400000">
              <a:srgbClr val="C25A36">
                <a:alpha val="70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51820" y="7058025"/>
            <a:ext cx="228600" cy="228600"/>
          </a:xfrm>
          <a:prstGeom prst="rect">
            <a:avLst/>
          </a:prstGeom>
        </p:spPr>
      </p:pic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5359" y="7086600"/>
            <a:ext cx="200025" cy="20002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3237086" y="7324725"/>
            <a:ext cx="4928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75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94758" y="7086600"/>
            <a:ext cx="200025" cy="200025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3886498" y="7324725"/>
            <a:ext cx="2928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750" dirty="0"/>
          </a:p>
        </p:txBody>
      </p:sp>
      <p:sp>
        <p:nvSpPr>
          <p:cNvPr id="55" name="Text 45"/>
          <p:cNvSpPr/>
          <p:nvPr/>
        </p:nvSpPr>
        <p:spPr>
          <a:xfrm>
            <a:off x="5143500" y="2476500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D'ACCUEIL · DIRECTION A</a:t>
            </a:r>
            <a:endParaRPr lang="en-US" sz="975" dirty="0"/>
          </a:p>
        </p:txBody>
      </p:sp>
      <p:sp>
        <p:nvSpPr>
          <p:cNvPr id="56" name="Text 46"/>
          <p:cNvSpPr/>
          <p:nvPr/>
        </p:nvSpPr>
        <p:spPr>
          <a:xfrm>
            <a:off x="5143500" y="2752725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recherche d'abord</a:t>
            </a:r>
            <a:endParaRPr lang="en-US" sz="3600" dirty="0"/>
          </a:p>
        </p:txBody>
      </p:sp>
      <p:sp>
        <p:nvSpPr>
          <p:cNvPr id="57" name="Text 47"/>
          <p:cNvSpPr/>
          <p:nvPr/>
        </p:nvSpPr>
        <p:spPr>
          <a:xfrm>
            <a:off x="5143500" y="3423270"/>
            <a:ext cx="470916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grande barre de recherche dès l'ouverture, des filtres rapides par type de logement, et un aperçu des annonces récentes. Le chemin le plus court vers un résultat.</a:t>
            </a:r>
            <a:endParaRPr lang="en-US" sz="1425" dirty="0"/>
          </a:p>
        </p:txBody>
      </p:sp>
      <p:sp>
        <p:nvSpPr>
          <p:cNvPr id="58" name="Shape 48"/>
          <p:cNvSpPr/>
          <p:nvPr/>
        </p:nvSpPr>
        <p:spPr>
          <a:xfrm>
            <a:off x="5143500" y="4905301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59" name="Text 49"/>
          <p:cNvSpPr/>
          <p:nvPr/>
        </p:nvSpPr>
        <p:spPr>
          <a:xfrm>
            <a:off x="5343525" y="4848151"/>
            <a:ext cx="32581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libre : quartier ou type de logement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5143500" y="5238676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61" name="Text 51"/>
          <p:cNvSpPr/>
          <p:nvPr/>
        </p:nvSpPr>
        <p:spPr>
          <a:xfrm>
            <a:off x="5343525" y="5181526"/>
            <a:ext cx="17250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rapides en un tap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5143500" y="5572051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63" name="Text 53"/>
          <p:cNvSpPr/>
          <p:nvPr/>
        </p:nvSpPr>
        <p:spPr>
          <a:xfrm>
            <a:off x="5343525" y="5514901"/>
            <a:ext cx="23832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d'onglets : publier au centre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77343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390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FBF7F2"/>
          </a:solidFill>
          <a:ln/>
        </p:spPr>
      </p:sp>
      <p:sp>
        <p:nvSpPr>
          <p:cNvPr id="5" name="Text 3"/>
          <p:cNvSpPr/>
          <p:nvPr/>
        </p:nvSpPr>
        <p:spPr>
          <a:xfrm>
            <a:off x="8067675" y="657225"/>
            <a:ext cx="335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744200" y="681038"/>
            <a:ext cx="161925" cy="104775"/>
          </a:xfrm>
          <a:prstGeom prst="roundRect">
            <a:avLst>
              <a:gd name="adj" fmla="val 27273"/>
            </a:avLst>
          </a:prstGeom>
          <a:ln w="14288">
            <a:solidFill>
              <a:srgbClr val="2A21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2775" y="709613"/>
            <a:ext cx="76200" cy="47625"/>
          </a:xfrm>
          <a:prstGeom prst="roundRect">
            <a:avLst>
              <a:gd name="adj" fmla="val 20000"/>
            </a:avLst>
          </a:prstGeom>
          <a:solidFill>
            <a:srgbClr val="2A211B"/>
          </a:solidFill>
          <a:ln/>
        </p:spPr>
      </p:sp>
      <p:sp>
        <p:nvSpPr>
          <p:cNvPr id="8" name="Text 6"/>
          <p:cNvSpPr/>
          <p:nvPr/>
        </p:nvSpPr>
        <p:spPr>
          <a:xfrm>
            <a:off x="8029575" y="981075"/>
            <a:ext cx="32061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 la · Ici à Dakar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29575" y="1190625"/>
            <a:ext cx="3206115" cy="305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b="1" spc="-39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Explorez par quartier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029575" y="1591419"/>
            <a:ext cx="29146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81975" y="1715244"/>
            <a:ext cx="171450" cy="1714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48675" y="1715244"/>
            <a:ext cx="25774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 un quartier…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29575" y="2162919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E7C9B6"/>
          </a:solidFill>
          <a:ln/>
        </p:spPr>
      </p:sp>
      <p:sp>
        <p:nvSpPr>
          <p:cNvPr id="14" name="Shape 11"/>
          <p:cNvSpPr/>
          <p:nvPr/>
        </p:nvSpPr>
        <p:spPr>
          <a:xfrm>
            <a:off x="8029575" y="2162919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15" name="Text 12"/>
          <p:cNvSpPr/>
          <p:nvPr/>
        </p:nvSpPr>
        <p:spPr>
          <a:xfrm>
            <a:off x="8143875" y="2991594"/>
            <a:ext cx="7047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143875" y="3177332"/>
            <a:ext cx="7047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logements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9548813" y="2162919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CFC2B0"/>
          </a:solidFill>
          <a:ln/>
        </p:spPr>
      </p:sp>
      <p:sp>
        <p:nvSpPr>
          <p:cNvPr id="18" name="Shape 15"/>
          <p:cNvSpPr/>
          <p:nvPr/>
        </p:nvSpPr>
        <p:spPr>
          <a:xfrm>
            <a:off x="9548813" y="2162919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19" name="Text 16"/>
          <p:cNvSpPr/>
          <p:nvPr/>
        </p:nvSpPr>
        <p:spPr>
          <a:xfrm>
            <a:off x="9663113" y="2991594"/>
            <a:ext cx="7047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Mermoz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9663113" y="3177332"/>
            <a:ext cx="7047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logements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029575" y="3544044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D8C9BA"/>
          </a:solidFill>
          <a:ln/>
        </p:spPr>
      </p:sp>
      <p:sp>
        <p:nvSpPr>
          <p:cNvPr id="22" name="Shape 19"/>
          <p:cNvSpPr/>
          <p:nvPr/>
        </p:nvSpPr>
        <p:spPr>
          <a:xfrm>
            <a:off x="8029575" y="3544044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23" name="Text 20"/>
          <p:cNvSpPr/>
          <p:nvPr/>
        </p:nvSpPr>
        <p:spPr>
          <a:xfrm>
            <a:off x="8143875" y="4372719"/>
            <a:ext cx="7047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Médina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8143875" y="4558457"/>
            <a:ext cx="7047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logements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9548813" y="3544044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E0CDB6"/>
          </a:solidFill>
          <a:ln/>
        </p:spPr>
      </p:sp>
      <p:sp>
        <p:nvSpPr>
          <p:cNvPr id="26" name="Shape 23"/>
          <p:cNvSpPr/>
          <p:nvPr/>
        </p:nvSpPr>
        <p:spPr>
          <a:xfrm>
            <a:off x="9548813" y="3544044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27" name="Text 24"/>
          <p:cNvSpPr/>
          <p:nvPr/>
        </p:nvSpPr>
        <p:spPr>
          <a:xfrm>
            <a:off x="9663113" y="4372719"/>
            <a:ext cx="7047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Ouakam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9663113" y="4558457"/>
            <a:ext cx="7047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logements</a:t>
            </a:r>
            <a:endParaRPr lang="en-US" sz="825" dirty="0"/>
          </a:p>
        </p:txBody>
      </p:sp>
      <p:sp>
        <p:nvSpPr>
          <p:cNvPr id="29" name="Shape 26"/>
          <p:cNvSpPr/>
          <p:nvPr/>
        </p:nvSpPr>
        <p:spPr>
          <a:xfrm>
            <a:off x="8029575" y="4925169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D2C4B2"/>
          </a:solidFill>
          <a:ln/>
        </p:spPr>
      </p:sp>
      <p:sp>
        <p:nvSpPr>
          <p:cNvPr id="30" name="Shape 27"/>
          <p:cNvSpPr/>
          <p:nvPr/>
        </p:nvSpPr>
        <p:spPr>
          <a:xfrm>
            <a:off x="8029575" y="4925169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31" name="Text 28"/>
          <p:cNvSpPr/>
          <p:nvPr/>
        </p:nvSpPr>
        <p:spPr>
          <a:xfrm>
            <a:off x="8143875" y="5753844"/>
            <a:ext cx="96693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Sacré-Cœur</a:t>
            </a:r>
            <a:endParaRPr lang="en-US" sz="1275" dirty="0"/>
          </a:p>
        </p:txBody>
      </p:sp>
      <p:sp>
        <p:nvSpPr>
          <p:cNvPr id="32" name="Text 29"/>
          <p:cNvSpPr/>
          <p:nvPr/>
        </p:nvSpPr>
        <p:spPr>
          <a:xfrm>
            <a:off x="8143875" y="5939582"/>
            <a:ext cx="96693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logements</a:t>
            </a:r>
            <a:endParaRPr lang="en-US" sz="825" dirty="0"/>
          </a:p>
        </p:txBody>
      </p:sp>
      <p:sp>
        <p:nvSpPr>
          <p:cNvPr id="33" name="Shape 30"/>
          <p:cNvSpPr/>
          <p:nvPr/>
        </p:nvSpPr>
        <p:spPr>
          <a:xfrm>
            <a:off x="9548813" y="4925169"/>
            <a:ext cx="1395413" cy="1257300"/>
          </a:xfrm>
          <a:prstGeom prst="roundRect">
            <a:avLst>
              <a:gd name="adj" fmla="val 12121"/>
            </a:avLst>
          </a:prstGeom>
          <a:solidFill>
            <a:srgbClr val="E5D0BC"/>
          </a:solidFill>
          <a:ln/>
        </p:spPr>
      </p:sp>
      <p:sp>
        <p:nvSpPr>
          <p:cNvPr id="34" name="Shape 31"/>
          <p:cNvSpPr/>
          <p:nvPr/>
        </p:nvSpPr>
        <p:spPr>
          <a:xfrm>
            <a:off x="9548813" y="4925169"/>
            <a:ext cx="1395413" cy="1257300"/>
          </a:xfrm>
          <a:prstGeom prst="rect">
            <a:avLst/>
          </a:prstGeom>
          <a:gradFill rotWithShape="1">
            <a:gsLst>
              <a:gs pos="35000">
                <a:srgbClr val="28140A">
                  <a:alpha val="0"/>
                </a:srgbClr>
              </a:gs>
              <a:gs pos="100000">
                <a:srgbClr val="28140A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35" name="Text 32"/>
          <p:cNvSpPr/>
          <p:nvPr/>
        </p:nvSpPr>
        <p:spPr>
          <a:xfrm>
            <a:off x="9663113" y="5753844"/>
            <a:ext cx="7047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Yoff</a:t>
            </a:r>
            <a:endParaRPr lang="en-US" sz="1275" dirty="0"/>
          </a:p>
        </p:txBody>
      </p:sp>
      <p:sp>
        <p:nvSpPr>
          <p:cNvPr id="36" name="Text 33"/>
          <p:cNvSpPr/>
          <p:nvPr/>
        </p:nvSpPr>
        <p:spPr>
          <a:xfrm>
            <a:off x="9663113" y="5939582"/>
            <a:ext cx="7047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logements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7839075" y="6972300"/>
            <a:ext cx="3295650" cy="70485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839075" y="6972300"/>
            <a:ext cx="3295650" cy="9525"/>
          </a:xfrm>
          <a:prstGeom prst="rect">
            <a:avLst/>
          </a:prstGeom>
          <a:solidFill>
            <a:srgbClr val="F0E8DD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2163" y="7086600"/>
            <a:ext cx="200025" cy="20002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087320" y="7324725"/>
            <a:ext cx="38591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75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7121" y="7086600"/>
            <a:ext cx="200025" cy="200025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626822" y="7324725"/>
            <a:ext cx="536823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9317310" y="6934200"/>
            <a:ext cx="476250" cy="476250"/>
          </a:xfrm>
          <a:prstGeom prst="ellipse">
            <a:avLst/>
          </a:prstGeom>
          <a:solidFill>
            <a:srgbClr val="C25A36"/>
          </a:solidFill>
          <a:ln/>
          <a:effectLst>
            <a:outerShdw sx="100000" sy="100000" kx="0" ky="0" algn="bl" rotWithShape="0" blurRad="209550" dist="95250" dir="5400000">
              <a:srgbClr val="C25A36">
                <a:alpha val="70000"/>
              </a:srgbClr>
            </a:outerShdw>
          </a:effectLst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1135" y="7058025"/>
            <a:ext cx="228600" cy="228600"/>
          </a:xfrm>
          <a:prstGeom prst="rect">
            <a:avLst/>
          </a:prstGeom>
        </p:spPr>
      </p:pic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31623" y="7086600"/>
            <a:ext cx="200025" cy="200025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0023351" y="7324725"/>
            <a:ext cx="4928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7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78120" y="7086600"/>
            <a:ext cx="200025" cy="20002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0669860" y="7324725"/>
            <a:ext cx="2928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952500" y="2476500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D'ACCUEIL · DIRECTION B</a:t>
            </a:r>
            <a:endParaRPr lang="en-US" sz="975" dirty="0"/>
          </a:p>
        </p:txBody>
      </p:sp>
      <p:sp>
        <p:nvSpPr>
          <p:cNvPr id="50" name="Text 42"/>
          <p:cNvSpPr/>
          <p:nvPr/>
        </p:nvSpPr>
        <p:spPr>
          <a:xfrm>
            <a:off x="952500" y="2752725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Parcourir par quartier</a:t>
            </a:r>
            <a:endParaRPr lang="en-US" sz="3600" dirty="0"/>
          </a:p>
        </p:txBody>
      </p:sp>
      <p:sp>
        <p:nvSpPr>
          <p:cNvPr id="51" name="Text 43"/>
          <p:cNvSpPr/>
          <p:nvPr/>
        </p:nvSpPr>
        <p:spPr>
          <a:xfrm>
            <a:off x="952500" y="3423270"/>
            <a:ext cx="470916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qui connaît Dakar par ses quartiers. Chaque carte montre le nombre de logements et le prix d'appel — idéal pour les nouveaux arrivants qui s'orientent dans la ville.</a:t>
            </a:r>
            <a:endParaRPr lang="en-US" sz="1425" dirty="0"/>
          </a:p>
        </p:txBody>
      </p:sp>
      <p:sp>
        <p:nvSpPr>
          <p:cNvPr id="52" name="Shape 44"/>
          <p:cNvSpPr/>
          <p:nvPr/>
        </p:nvSpPr>
        <p:spPr>
          <a:xfrm>
            <a:off x="952500" y="4905301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53" name="Text 45"/>
          <p:cNvSpPr/>
          <p:nvPr/>
        </p:nvSpPr>
        <p:spPr>
          <a:xfrm>
            <a:off x="1152525" y="4848151"/>
            <a:ext cx="24468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par la géographie de la ville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952500" y="5238676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55" name="Text 47"/>
          <p:cNvSpPr/>
          <p:nvPr/>
        </p:nvSpPr>
        <p:spPr>
          <a:xfrm>
            <a:off x="1152525" y="5181526"/>
            <a:ext cx="32512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logements et prix d'appel par zone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952500" y="5572051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57" name="Text 49"/>
          <p:cNvSpPr/>
          <p:nvPr/>
        </p:nvSpPr>
        <p:spPr>
          <a:xfrm>
            <a:off x="1152525" y="5514901"/>
            <a:ext cx="29931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à l'orientation des nouveaux arrivants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72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E9E3D7"/>
          </a:solidFill>
          <a:ln/>
        </p:spPr>
      </p:sp>
      <p:sp>
        <p:nvSpPr>
          <p:cNvPr id="5" name="Shape 3"/>
          <p:cNvSpPr/>
          <p:nvPr/>
        </p:nvSpPr>
        <p:spPr>
          <a:xfrm>
            <a:off x="1057275" y="514350"/>
            <a:ext cx="3295650" cy="71628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6" name="Shape 4"/>
          <p:cNvSpPr/>
          <p:nvPr/>
        </p:nvSpPr>
        <p:spPr>
          <a:xfrm rot="1080000">
            <a:off x="866775" y="1562100"/>
            <a:ext cx="4191000" cy="2667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7" name="Shape 5"/>
          <p:cNvSpPr/>
          <p:nvPr/>
        </p:nvSpPr>
        <p:spPr>
          <a:xfrm rot="-599999">
            <a:off x="771525" y="3752850"/>
            <a:ext cx="4381500" cy="3429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8" name="Shape 6"/>
          <p:cNvSpPr/>
          <p:nvPr/>
        </p:nvSpPr>
        <p:spPr>
          <a:xfrm rot="480000">
            <a:off x="2486025" y="1085850"/>
            <a:ext cx="304800" cy="55245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9" name="Shape 7"/>
          <p:cNvSpPr/>
          <p:nvPr/>
        </p:nvSpPr>
        <p:spPr>
          <a:xfrm>
            <a:off x="3076575" y="4800600"/>
            <a:ext cx="1047750" cy="1047750"/>
          </a:xfrm>
          <a:prstGeom prst="ellipse">
            <a:avLst/>
          </a:prstGeom>
          <a:solidFill>
            <a:srgbClr val="CFE0E2"/>
          </a:solidFill>
          <a:ln/>
        </p:spPr>
      </p:sp>
      <p:sp>
        <p:nvSpPr>
          <p:cNvPr id="10" name="Shape 8"/>
          <p:cNvSpPr/>
          <p:nvPr/>
        </p:nvSpPr>
        <p:spPr>
          <a:xfrm>
            <a:off x="1647825" y="2324100"/>
            <a:ext cx="497160" cy="280988"/>
          </a:xfrm>
          <a:prstGeom prst="roundRect">
            <a:avLst>
              <a:gd name="adj" fmla="val 50000"/>
            </a:avLst>
          </a:prstGeom>
          <a:solidFill>
            <a:srgbClr val="C25A36"/>
          </a:solidFill>
          <a:ln/>
          <a:effectLst>
            <a:outerShdw sx="100000" sy="100000" kx="0" ky="0" algn="bl" rotWithShape="0" blurRad="133350" dist="57150" dir="5400000">
              <a:srgbClr val="C25A36">
                <a:alpha val="6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62125" y="2390775"/>
            <a:ext cx="3447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125k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2867025" y="3228975"/>
            <a:ext cx="428253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81325" y="3295650"/>
            <a:ext cx="2758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90k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3133725" y="2038350"/>
            <a:ext cx="497160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8025" y="2105025"/>
            <a:ext cx="34476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220k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2009775" y="3943350"/>
            <a:ext cx="428253" cy="2809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24075" y="4010025"/>
            <a:ext cx="2758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55k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47775" y="657225"/>
            <a:ext cx="335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00500" y="681038"/>
            <a:ext cx="161925" cy="104775"/>
          </a:xfrm>
          <a:prstGeom prst="roundRect">
            <a:avLst>
              <a:gd name="adj" fmla="val 27273"/>
            </a:avLst>
          </a:prstGeom>
          <a:ln w="14288">
            <a:solidFill>
              <a:srgbClr val="2A21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9075" y="709613"/>
            <a:ext cx="76200" cy="47625"/>
          </a:xfrm>
          <a:prstGeom prst="roundRect">
            <a:avLst>
              <a:gd name="adj" fmla="val 20000"/>
            </a:avLst>
          </a:prstGeom>
          <a:solidFill>
            <a:srgbClr val="2A211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47775" y="904875"/>
            <a:ext cx="2914650" cy="400050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9550" dist="76200" dir="5400000">
              <a:srgbClr val="3C1E0A">
                <a:alpha val="3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0650" y="1019175"/>
            <a:ext cx="171450" cy="1714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57350" y="1028700"/>
            <a:ext cx="2305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E, Dakar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8100" y="1019175"/>
            <a:ext cx="171450" cy="17145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057275" y="4795838"/>
            <a:ext cx="3295650" cy="2881313"/>
          </a:xfrm>
          <a:prstGeom prst="roundRect">
            <a:avLst>
              <a:gd name="adj" fmla="val 8595"/>
            </a:avLst>
          </a:prstGeom>
          <a:solidFill>
            <a:srgbClr val="FBF7F2"/>
          </a:solidFill>
          <a:ln/>
          <a:effectLst>
            <a:outerShdw sx="100000" sy="100000" kx="0" ky="0" algn="bl" rotWithShape="0" blurRad="285750" dist="95250" dir="16200000">
              <a:srgbClr val="3C1E0A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505075" y="4910138"/>
            <a:ext cx="400050" cy="47625"/>
          </a:xfrm>
          <a:prstGeom prst="roundRect">
            <a:avLst>
              <a:gd name="adj" fmla="val 50000"/>
            </a:avLst>
          </a:prstGeom>
          <a:solidFill>
            <a:srgbClr val="DDD1C2"/>
          </a:solidFill>
          <a:ln/>
        </p:spPr>
      </p:sp>
      <p:sp>
        <p:nvSpPr>
          <p:cNvPr id="27" name="Text 23"/>
          <p:cNvSpPr/>
          <p:nvPr/>
        </p:nvSpPr>
        <p:spPr>
          <a:xfrm>
            <a:off x="1228725" y="5091113"/>
            <a:ext cx="18019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logements · Point E</a:t>
            </a:r>
            <a:endParaRPr lang="en-US" sz="1275" dirty="0"/>
          </a:p>
        </p:txBody>
      </p:sp>
      <p:sp>
        <p:nvSpPr>
          <p:cNvPr id="28" name="Text 24"/>
          <p:cNvSpPr/>
          <p:nvPr/>
        </p:nvSpPr>
        <p:spPr>
          <a:xfrm>
            <a:off x="3919910" y="5124450"/>
            <a:ext cx="3377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1228725" y="5400675"/>
            <a:ext cx="29527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333500" y="5505450"/>
            <a:ext cx="762000" cy="762000"/>
          </a:xfrm>
          <a:prstGeom prst="roundRect">
            <a:avLst>
              <a:gd name="adj" fmla="val 15000"/>
            </a:avLst>
          </a:prstGeom>
          <a:solidFill>
            <a:srgbClr val="EFE6DB"/>
          </a:solidFill>
          <a:ln/>
        </p:spPr>
      </p:sp>
      <p:sp>
        <p:nvSpPr>
          <p:cNvPr id="31" name="Text 27"/>
          <p:cNvSpPr/>
          <p:nvPr/>
        </p:nvSpPr>
        <p:spPr>
          <a:xfrm>
            <a:off x="2219325" y="5524500"/>
            <a:ext cx="204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2219325" y="5715000"/>
            <a:ext cx="204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 · 25 m² · Meublé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2219325" y="5953125"/>
            <a:ext cx="641672" cy="18097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34" name="Text 30"/>
          <p:cNvSpPr/>
          <p:nvPr/>
        </p:nvSpPr>
        <p:spPr>
          <a:xfrm>
            <a:off x="2295525" y="5981700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2927672" y="5962650"/>
            <a:ext cx="592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</a:t>
            </a:r>
            <a:endParaRPr lang="en-US" sz="1125" dirty="0"/>
          </a:p>
        </p:txBody>
      </p:sp>
      <p:sp>
        <p:nvSpPr>
          <p:cNvPr id="36" name="Shape 32"/>
          <p:cNvSpPr/>
          <p:nvPr/>
        </p:nvSpPr>
        <p:spPr>
          <a:xfrm>
            <a:off x="1228725" y="6496050"/>
            <a:ext cx="29527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333500" y="6600825"/>
            <a:ext cx="762000" cy="762000"/>
          </a:xfrm>
          <a:prstGeom prst="roundRect">
            <a:avLst>
              <a:gd name="adj" fmla="val 15000"/>
            </a:avLst>
          </a:prstGeom>
          <a:solidFill>
            <a:srgbClr val="ECE7DC"/>
          </a:solidFill>
          <a:ln/>
        </p:spPr>
      </p:sp>
      <p:sp>
        <p:nvSpPr>
          <p:cNvPr id="38" name="Text 34"/>
          <p:cNvSpPr/>
          <p:nvPr/>
        </p:nvSpPr>
        <p:spPr>
          <a:xfrm>
            <a:off x="2219325" y="6619875"/>
            <a:ext cx="204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Appart. 2 pièces</a:t>
            </a:r>
            <a:endParaRPr lang="en-US" sz="1125" dirty="0"/>
          </a:p>
        </p:txBody>
      </p:sp>
      <p:sp>
        <p:nvSpPr>
          <p:cNvPr id="39" name="Text 35"/>
          <p:cNvSpPr/>
          <p:nvPr/>
        </p:nvSpPr>
        <p:spPr>
          <a:xfrm>
            <a:off x="2219325" y="6810375"/>
            <a:ext cx="2043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Mermoz · 60 m²</a:t>
            </a:r>
            <a:endParaRPr lang="en-US" sz="975" dirty="0"/>
          </a:p>
        </p:txBody>
      </p:sp>
      <p:sp>
        <p:nvSpPr>
          <p:cNvPr id="40" name="Shape 36"/>
          <p:cNvSpPr/>
          <p:nvPr/>
        </p:nvSpPr>
        <p:spPr>
          <a:xfrm>
            <a:off x="2219325" y="7048500"/>
            <a:ext cx="641672" cy="18097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41" name="Text 37"/>
          <p:cNvSpPr/>
          <p:nvPr/>
        </p:nvSpPr>
        <p:spPr>
          <a:xfrm>
            <a:off x="2295525" y="7077075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42" name="Text 38"/>
          <p:cNvSpPr/>
          <p:nvPr/>
        </p:nvSpPr>
        <p:spPr>
          <a:xfrm>
            <a:off x="2927672" y="7058025"/>
            <a:ext cx="592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220 000</a:t>
            </a:r>
            <a:endParaRPr lang="en-US" sz="1125" dirty="0"/>
          </a:p>
        </p:txBody>
      </p:sp>
      <p:sp>
        <p:nvSpPr>
          <p:cNvPr id="43" name="Text 39"/>
          <p:cNvSpPr/>
          <p:nvPr/>
        </p:nvSpPr>
        <p:spPr>
          <a:xfrm>
            <a:off x="5143500" y="2607022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D'ACCUEIL · DIRECTION C</a:t>
            </a:r>
            <a:endParaRPr lang="en-US" sz="975" dirty="0"/>
          </a:p>
        </p:txBody>
      </p:sp>
      <p:sp>
        <p:nvSpPr>
          <p:cNvPr id="44" name="Text 40"/>
          <p:cNvSpPr/>
          <p:nvPr/>
        </p:nvSpPr>
        <p:spPr>
          <a:xfrm>
            <a:off x="5143500" y="2883247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</a:t>
            </a:r>
            <a:endParaRPr lang="en-US" sz="3600" dirty="0"/>
          </a:p>
        </p:txBody>
      </p:sp>
      <p:sp>
        <p:nvSpPr>
          <p:cNvPr id="45" name="Text 41"/>
          <p:cNvSpPr/>
          <p:nvPr/>
        </p:nvSpPr>
        <p:spPr>
          <a:xfrm>
            <a:off x="5143500" y="3553792"/>
            <a:ext cx="470916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prix s'affichent directement sur la carte, et la liste apparaît en panneau coulissant. Pratique pour visualiser la proximité — université, transports, lieu de travail.</a:t>
            </a:r>
            <a:endParaRPr lang="en-US" sz="1425" dirty="0"/>
          </a:p>
        </p:txBody>
      </p:sp>
      <p:sp>
        <p:nvSpPr>
          <p:cNvPr id="46" name="Shape 42"/>
          <p:cNvSpPr/>
          <p:nvPr/>
        </p:nvSpPr>
        <p:spPr>
          <a:xfrm>
            <a:off x="5143500" y="4746278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47" name="Text 43"/>
          <p:cNvSpPr/>
          <p:nvPr/>
        </p:nvSpPr>
        <p:spPr>
          <a:xfrm>
            <a:off x="5343525" y="4689128"/>
            <a:ext cx="2022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de prix géolocalisés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5143500" y="5093940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49" name="Text 45"/>
          <p:cNvSpPr/>
          <p:nvPr/>
        </p:nvSpPr>
        <p:spPr>
          <a:xfrm>
            <a:off x="5343525" y="5041553"/>
            <a:ext cx="18887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Bottom-sheet liste ↔ carte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143500" y="5441603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51" name="Text 47"/>
          <p:cNvSpPr/>
          <p:nvPr/>
        </p:nvSpPr>
        <p:spPr>
          <a:xfrm>
            <a:off x="5343525" y="5384453"/>
            <a:ext cx="21609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Idéal pour évaluer la proximité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77343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390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FBF7F2"/>
          </a:solidFill>
          <a:ln/>
        </p:spPr>
      </p:sp>
      <p:sp>
        <p:nvSpPr>
          <p:cNvPr id="5" name="Text 3"/>
          <p:cNvSpPr/>
          <p:nvPr/>
        </p:nvSpPr>
        <p:spPr>
          <a:xfrm>
            <a:off x="8067675" y="657225"/>
            <a:ext cx="335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744200" y="681038"/>
            <a:ext cx="161925" cy="104775"/>
          </a:xfrm>
          <a:prstGeom prst="roundRect">
            <a:avLst>
              <a:gd name="adj" fmla="val 27273"/>
            </a:avLst>
          </a:prstGeom>
          <a:ln w="14288">
            <a:solidFill>
              <a:srgbClr val="2A21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2775" y="709613"/>
            <a:ext cx="76200" cy="47625"/>
          </a:xfrm>
          <a:prstGeom prst="roundRect">
            <a:avLst>
              <a:gd name="adj" fmla="val 20000"/>
            </a:avLst>
          </a:prstGeom>
          <a:solidFill>
            <a:srgbClr val="2A211B"/>
          </a:solidFill>
          <a:ln/>
        </p:spPr>
      </p:sp>
      <p:sp>
        <p:nvSpPr>
          <p:cNvPr id="8" name="Shape 6"/>
          <p:cNvSpPr/>
          <p:nvPr/>
        </p:nvSpPr>
        <p:spPr>
          <a:xfrm>
            <a:off x="8010525" y="904875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1013" y="995363"/>
            <a:ext cx="180975" cy="1809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77250" y="904875"/>
            <a:ext cx="2486025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20125" y="1009650"/>
            <a:ext cx="22764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 · Studio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10525" y="1390650"/>
            <a:ext cx="746671" cy="333375"/>
          </a:xfrm>
          <a:prstGeom prst="roundRect">
            <a:avLst>
              <a:gd name="adj" fmla="val 50000"/>
            </a:avLst>
          </a:prstGeom>
          <a:solidFill>
            <a:srgbClr val="C25A3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4825" y="1495425"/>
            <a:ext cx="123825" cy="1238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05800" y="1483519"/>
            <a:ext cx="41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</a:t>
            </a:r>
            <a:endParaRPr lang="en-US" sz="975" dirty="0"/>
          </a:p>
        </p:txBody>
      </p:sp>
      <p:sp>
        <p:nvSpPr>
          <p:cNvPr id="15" name="Shape 11"/>
          <p:cNvSpPr/>
          <p:nvPr/>
        </p:nvSpPr>
        <p:spPr>
          <a:xfrm>
            <a:off x="8833396" y="1390650"/>
            <a:ext cx="584225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57221" y="1476375"/>
            <a:ext cx="4127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150k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9493821" y="1390650"/>
            <a:ext cx="830535" cy="3333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17646" y="1476375"/>
            <a:ext cx="6590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8010525" y="1881187"/>
            <a:ext cx="14025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logements trouvés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143158" y="1876425"/>
            <a:ext cx="89631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: Pertinence</a:t>
            </a:r>
            <a:endParaRPr lang="en-US" sz="975" dirty="0"/>
          </a:p>
        </p:txBody>
      </p:sp>
      <p:sp>
        <p:nvSpPr>
          <p:cNvPr id="21" name="Shape 17"/>
          <p:cNvSpPr/>
          <p:nvPr/>
        </p:nvSpPr>
        <p:spPr>
          <a:xfrm>
            <a:off x="8010525" y="2162175"/>
            <a:ext cx="2952750" cy="1804988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20050" y="2171700"/>
            <a:ext cx="2933700" cy="1162050"/>
          </a:xfrm>
          <a:prstGeom prst="rect">
            <a:avLst/>
          </a:prstGeom>
          <a:solidFill>
            <a:srgbClr val="EFE6DB"/>
          </a:solidFill>
          <a:ln/>
        </p:spPr>
      </p:sp>
      <p:sp>
        <p:nvSpPr>
          <p:cNvPr id="23" name="Shape 19"/>
          <p:cNvSpPr/>
          <p:nvPr/>
        </p:nvSpPr>
        <p:spPr>
          <a:xfrm>
            <a:off x="8124825" y="2276475"/>
            <a:ext cx="660722" cy="20002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24" name="Text 20"/>
          <p:cNvSpPr/>
          <p:nvPr/>
        </p:nvSpPr>
        <p:spPr>
          <a:xfrm>
            <a:off x="8210550" y="2314575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25" name="Shape 21"/>
          <p:cNvSpPr/>
          <p:nvPr/>
        </p:nvSpPr>
        <p:spPr>
          <a:xfrm>
            <a:off x="8842697" y="2276475"/>
            <a:ext cx="611312" cy="200025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8422" y="2324100"/>
            <a:ext cx="104775" cy="1047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071297" y="2314575"/>
            <a:ext cx="373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Vérifié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8162925" y="3448050"/>
            <a:ext cx="105050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259988" y="3448050"/>
            <a:ext cx="62708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162925" y="3662362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 · 25 m² · Meublé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8010525" y="4090987"/>
            <a:ext cx="2952750" cy="1804988"/>
          </a:xfrm>
          <a:prstGeom prst="roundRect">
            <a:avLst>
              <a:gd name="adj" fmla="val 9499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020050" y="4100513"/>
            <a:ext cx="2933700" cy="1162050"/>
          </a:xfrm>
          <a:prstGeom prst="rect">
            <a:avLst/>
          </a:prstGeom>
          <a:solidFill>
            <a:srgbClr val="ECE7DC"/>
          </a:solidFill>
          <a:ln/>
        </p:spPr>
      </p:sp>
      <p:sp>
        <p:nvSpPr>
          <p:cNvPr id="33" name="Shape 28"/>
          <p:cNvSpPr/>
          <p:nvPr/>
        </p:nvSpPr>
        <p:spPr>
          <a:xfrm>
            <a:off x="8124825" y="4205288"/>
            <a:ext cx="829419" cy="200025"/>
          </a:xfrm>
          <a:prstGeom prst="roundRect">
            <a:avLst>
              <a:gd name="adj" fmla="val 50000"/>
            </a:avLst>
          </a:prstGeom>
          <a:solidFill>
            <a:srgbClr val="F6E7DF"/>
          </a:solidFill>
          <a:ln/>
        </p:spPr>
      </p:sp>
      <p:sp>
        <p:nvSpPr>
          <p:cNvPr id="34" name="Text 29"/>
          <p:cNvSpPr/>
          <p:nvPr/>
        </p:nvSpPr>
        <p:spPr>
          <a:xfrm>
            <a:off x="8210550" y="4243388"/>
            <a:ext cx="734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Proche UCAD</a:t>
            </a:r>
            <a:endParaRPr lang="en-US" sz="825" dirty="0"/>
          </a:p>
        </p:txBody>
      </p:sp>
      <p:sp>
        <p:nvSpPr>
          <p:cNvPr id="35" name="Text 30"/>
          <p:cNvSpPr/>
          <p:nvPr/>
        </p:nvSpPr>
        <p:spPr>
          <a:xfrm>
            <a:off x="8162925" y="5376863"/>
            <a:ext cx="14258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 étudiante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0344745" y="5376863"/>
            <a:ext cx="5423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162925" y="5591175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Fann · 14 m² · Partagé</a:t>
            </a:r>
            <a:endParaRPr lang="en-US" sz="975" dirty="0"/>
          </a:p>
        </p:txBody>
      </p:sp>
      <p:sp>
        <p:nvSpPr>
          <p:cNvPr id="38" name="Shape 33"/>
          <p:cNvSpPr/>
          <p:nvPr/>
        </p:nvSpPr>
        <p:spPr>
          <a:xfrm>
            <a:off x="8010525" y="6019800"/>
            <a:ext cx="2952750" cy="138588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171450" dist="57150" dir="5400000">
              <a:srgbClr val="3C1E0A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020050" y="6029325"/>
            <a:ext cx="2933700" cy="74295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40" name="Text 35"/>
          <p:cNvSpPr/>
          <p:nvPr/>
        </p:nvSpPr>
        <p:spPr>
          <a:xfrm>
            <a:off x="8162925" y="6886575"/>
            <a:ext cx="163080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Appartement 2 pièces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10259988" y="6886575"/>
            <a:ext cx="62708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220 000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162925" y="7100888"/>
            <a:ext cx="2912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Mermoz · 60 m²</a:t>
            </a:r>
            <a:endParaRPr lang="en-US" sz="975" dirty="0"/>
          </a:p>
        </p:txBody>
      </p:sp>
      <p:sp>
        <p:nvSpPr>
          <p:cNvPr id="43" name="Text 38"/>
          <p:cNvSpPr/>
          <p:nvPr/>
        </p:nvSpPr>
        <p:spPr>
          <a:xfrm>
            <a:off x="952500" y="2621310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LOCATAIRE</a:t>
            </a:r>
            <a:endParaRPr lang="en-US" sz="975" dirty="0"/>
          </a:p>
        </p:txBody>
      </p:sp>
      <p:sp>
        <p:nvSpPr>
          <p:cNvPr id="44" name="Text 39"/>
          <p:cNvSpPr/>
          <p:nvPr/>
        </p:nvSpPr>
        <p:spPr>
          <a:xfrm>
            <a:off x="952500" y="2897535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de recherche</a:t>
            </a:r>
            <a:endParaRPr lang="en-US" sz="3600" dirty="0"/>
          </a:p>
        </p:txBody>
      </p:sp>
      <p:sp>
        <p:nvSpPr>
          <p:cNvPr id="45" name="Text 40"/>
          <p:cNvSpPr/>
          <p:nvPr/>
        </p:nvSpPr>
        <p:spPr>
          <a:xfrm>
            <a:off x="952500" y="3568080"/>
            <a:ext cx="470916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filtrée et triée par pertinence. Chaque annonce affiche son statut </a:t>
            </a:r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</a:t>
            </a:r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le badge </a:t>
            </a:r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Vérifié </a:t>
            </a:r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deux signaux de confiance pour rassurer le chercheur.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952500" y="4760565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47" name="Text 42"/>
          <p:cNvSpPr/>
          <p:nvPr/>
        </p:nvSpPr>
        <p:spPr>
          <a:xfrm>
            <a:off x="1152525" y="4703415"/>
            <a:ext cx="24477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actifs visibles et modifiables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952500" y="5093940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49" name="Text 44"/>
          <p:cNvSpPr/>
          <p:nvPr/>
        </p:nvSpPr>
        <p:spPr>
          <a:xfrm>
            <a:off x="1152525" y="5036790"/>
            <a:ext cx="28937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Disponible / Vérifié par HomeLink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952500" y="5427315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51" name="Text 46"/>
          <p:cNvSpPr/>
          <p:nvPr/>
        </p:nvSpPr>
        <p:spPr>
          <a:xfrm>
            <a:off x="1152525" y="5370165"/>
            <a:ext cx="1706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favori en un tap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72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FBF7F2"/>
          </a:solidFill>
          <a:ln/>
        </p:spPr>
      </p:sp>
      <p:sp>
        <p:nvSpPr>
          <p:cNvPr id="5" name="Shape 3"/>
          <p:cNvSpPr/>
          <p:nvPr/>
        </p:nvSpPr>
        <p:spPr>
          <a:xfrm>
            <a:off x="1057275" y="514350"/>
            <a:ext cx="3295650" cy="2571750"/>
          </a:xfrm>
          <a:prstGeom prst="rect">
            <a:avLst/>
          </a:prstGeom>
          <a:solidFill>
            <a:srgbClr val="E7C9B6"/>
          </a:solidFill>
          <a:ln/>
        </p:spPr>
      </p:sp>
      <p:sp>
        <p:nvSpPr>
          <p:cNvPr id="6" name="Shape 4"/>
          <p:cNvSpPr/>
          <p:nvPr/>
        </p:nvSpPr>
        <p:spPr>
          <a:xfrm>
            <a:off x="1228725" y="952500"/>
            <a:ext cx="361950" cy="36195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9213" y="1042988"/>
            <a:ext cx="180975" cy="1809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19525" y="952500"/>
            <a:ext cx="361950" cy="36195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0013" y="1042988"/>
            <a:ext cx="1809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1937" y="2743200"/>
            <a:ext cx="757163" cy="219075"/>
          </a:xfrm>
          <a:prstGeom prst="roundRect">
            <a:avLst>
              <a:gd name="adj" fmla="val 50000"/>
            </a:avLst>
          </a:prstGeom>
          <a:solidFill>
            <a:srgbClr val="28140A">
              <a:alpha val="5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576712" y="2790825"/>
            <a:ext cx="6238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 photos</a:t>
            </a:r>
            <a:endParaRPr lang="en-US" sz="825" dirty="0"/>
          </a:p>
        </p:txBody>
      </p:sp>
      <p:sp>
        <p:nvSpPr>
          <p:cNvPr id="12" name="Shape 8"/>
          <p:cNvSpPr/>
          <p:nvPr/>
        </p:nvSpPr>
        <p:spPr>
          <a:xfrm>
            <a:off x="1057275" y="2876550"/>
            <a:ext cx="3295650" cy="3612282"/>
          </a:xfrm>
          <a:prstGeom prst="roundRect">
            <a:avLst>
              <a:gd name="adj" fmla="val 7514"/>
            </a:avLst>
          </a:prstGeom>
          <a:solidFill>
            <a:srgbClr val="FBF7F2"/>
          </a:solidFill>
          <a:ln/>
        </p:spPr>
      </p:sp>
      <p:sp>
        <p:nvSpPr>
          <p:cNvPr id="13" name="Shape 9"/>
          <p:cNvSpPr/>
          <p:nvPr/>
        </p:nvSpPr>
        <p:spPr>
          <a:xfrm>
            <a:off x="1247775" y="3067050"/>
            <a:ext cx="743322" cy="228600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14" name="Text 10"/>
          <p:cNvSpPr/>
          <p:nvPr/>
        </p:nvSpPr>
        <p:spPr>
          <a:xfrm>
            <a:off x="1352550" y="3114675"/>
            <a:ext cx="6099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067297" y="3067050"/>
            <a:ext cx="704999" cy="228600"/>
          </a:xfrm>
          <a:prstGeom prst="roundRect">
            <a:avLst>
              <a:gd name="adj" fmla="val 50000"/>
            </a:avLst>
          </a:prstGeom>
          <a:solidFill>
            <a:srgbClr val="F6E7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2072" y="3119438"/>
            <a:ext cx="123825" cy="1238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43522" y="3114675"/>
            <a:ext cx="40019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Vérifié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247775" y="3409950"/>
            <a:ext cx="3206115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25" b="1" spc="-17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 · Point E</a:t>
            </a:r>
            <a:endParaRPr lang="en-US" sz="172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7775" y="3722340"/>
            <a:ext cx="133350" cy="133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28750" y="3708053"/>
            <a:ext cx="163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Rue de Fann, Point E · Dakar</a:t>
            </a:r>
            <a:endParaRPr lang="en-US" sz="975" dirty="0"/>
          </a:p>
        </p:txBody>
      </p:sp>
      <p:sp>
        <p:nvSpPr>
          <p:cNvPr id="21" name="Text 15"/>
          <p:cNvSpPr/>
          <p:nvPr/>
        </p:nvSpPr>
        <p:spPr>
          <a:xfrm>
            <a:off x="1247775" y="3984278"/>
            <a:ext cx="32061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 </a:t>
            </a:r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FCFA / mois</a:t>
            </a:r>
            <a:endParaRPr lang="en-US" sz="1875" dirty="0"/>
          </a:p>
        </p:txBody>
      </p:sp>
      <p:sp>
        <p:nvSpPr>
          <p:cNvPr id="22" name="Shape 16"/>
          <p:cNvSpPr/>
          <p:nvPr/>
        </p:nvSpPr>
        <p:spPr>
          <a:xfrm>
            <a:off x="1247775" y="4393853"/>
            <a:ext cx="2914650" cy="557213"/>
          </a:xfrm>
          <a:prstGeom prst="roundRect">
            <a:avLst>
              <a:gd name="adj" fmla="val 27350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343025" y="4527203"/>
            <a:ext cx="616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343025" y="4679603"/>
            <a:ext cx="61674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pièce</a:t>
            </a:r>
            <a:endParaRPr lang="en-US" sz="825" dirty="0"/>
          </a:p>
        </p:txBody>
      </p:sp>
      <p:sp>
        <p:nvSpPr>
          <p:cNvPr id="25" name="Shape 19"/>
          <p:cNvSpPr/>
          <p:nvPr/>
        </p:nvSpPr>
        <p:spPr>
          <a:xfrm>
            <a:off x="1997869" y="4527203"/>
            <a:ext cx="9525" cy="290513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26" name="Text 20"/>
          <p:cNvSpPr/>
          <p:nvPr/>
        </p:nvSpPr>
        <p:spPr>
          <a:xfrm>
            <a:off x="2045494" y="4527203"/>
            <a:ext cx="616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m²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2045494" y="4679603"/>
            <a:ext cx="61674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825" dirty="0"/>
          </a:p>
        </p:txBody>
      </p:sp>
      <p:sp>
        <p:nvSpPr>
          <p:cNvPr id="28" name="Shape 22"/>
          <p:cNvSpPr/>
          <p:nvPr/>
        </p:nvSpPr>
        <p:spPr>
          <a:xfrm>
            <a:off x="2700338" y="4527203"/>
            <a:ext cx="9525" cy="290513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29" name="Text 23"/>
          <p:cNvSpPr/>
          <p:nvPr/>
        </p:nvSpPr>
        <p:spPr>
          <a:xfrm>
            <a:off x="2747963" y="4527203"/>
            <a:ext cx="616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2ᵉ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2747963" y="4679603"/>
            <a:ext cx="61674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étage</a:t>
            </a:r>
            <a:endParaRPr lang="en-US" sz="825" dirty="0"/>
          </a:p>
        </p:txBody>
      </p:sp>
      <p:sp>
        <p:nvSpPr>
          <p:cNvPr id="31" name="Shape 25"/>
          <p:cNvSpPr/>
          <p:nvPr/>
        </p:nvSpPr>
        <p:spPr>
          <a:xfrm>
            <a:off x="3402806" y="4527203"/>
            <a:ext cx="9525" cy="290513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32" name="Text 26"/>
          <p:cNvSpPr/>
          <p:nvPr/>
        </p:nvSpPr>
        <p:spPr>
          <a:xfrm>
            <a:off x="3450431" y="4527203"/>
            <a:ext cx="616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Meublé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450431" y="4679603"/>
            <a:ext cx="61674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</a:t>
            </a:r>
            <a:endParaRPr lang="en-US" sz="825" dirty="0"/>
          </a:p>
        </p:txBody>
      </p:sp>
      <p:sp>
        <p:nvSpPr>
          <p:cNvPr id="34" name="Shape 28"/>
          <p:cNvSpPr/>
          <p:nvPr/>
        </p:nvSpPr>
        <p:spPr>
          <a:xfrm>
            <a:off x="1247775" y="5074890"/>
            <a:ext cx="2914650" cy="714375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371600" y="5222528"/>
            <a:ext cx="419100" cy="419100"/>
          </a:xfrm>
          <a:prstGeom prst="ellipse">
            <a:avLst/>
          </a:prstGeom>
          <a:solidFill>
            <a:srgbClr val="EADFD2"/>
          </a:solidFill>
          <a:ln/>
        </p:spPr>
      </p:sp>
      <p:sp>
        <p:nvSpPr>
          <p:cNvPr id="36" name="Text 30"/>
          <p:cNvSpPr/>
          <p:nvPr/>
        </p:nvSpPr>
        <p:spPr>
          <a:xfrm>
            <a:off x="1895475" y="5198715"/>
            <a:ext cx="14578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Aminata Diop</a:t>
            </a:r>
            <a:endParaRPr lang="en-US" sz="10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5475" y="5460653"/>
            <a:ext cx="102319" cy="1143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045419" y="5370165"/>
            <a:ext cx="11743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 · 12 avis · Répond vite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25564" y="5322540"/>
            <a:ext cx="713036" cy="21907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40" name="Text 33"/>
          <p:cNvSpPr/>
          <p:nvPr/>
        </p:nvSpPr>
        <p:spPr>
          <a:xfrm>
            <a:off x="3411289" y="5370165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C8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</a:t>
            </a:r>
            <a:endParaRPr lang="en-US" sz="825" dirty="0"/>
          </a:p>
        </p:txBody>
      </p:sp>
      <p:sp>
        <p:nvSpPr>
          <p:cNvPr id="41" name="Text 34"/>
          <p:cNvSpPr/>
          <p:nvPr/>
        </p:nvSpPr>
        <p:spPr>
          <a:xfrm>
            <a:off x="1247775" y="5913090"/>
            <a:ext cx="3002090" cy="61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entièrement meublé au 2ᵉ étage, proche de l'UCAD. Cuisine équipée, eau et électricité incluses. Quartier calme et sécurisé.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1057275" y="6877050"/>
            <a:ext cx="3295650" cy="800100"/>
          </a:xfrm>
          <a:prstGeom prst="rect">
            <a:avLst/>
          </a:prstGeom>
          <a:solidFill>
            <a:srgbClr val="FBF7F2">
              <a:alpha val="95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1057275" y="6877050"/>
            <a:ext cx="3295650" cy="9525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44" name="Shape 37"/>
          <p:cNvSpPr/>
          <p:nvPr/>
        </p:nvSpPr>
        <p:spPr>
          <a:xfrm>
            <a:off x="1228725" y="701040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8">
            <a:solidFill>
              <a:srgbClr val="EADFD2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6838" y="7148513"/>
            <a:ext cx="200025" cy="200025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809750" y="7010400"/>
            <a:ext cx="2371725" cy="476250"/>
          </a:xfrm>
          <a:prstGeom prst="roundRect">
            <a:avLst>
              <a:gd name="adj" fmla="val 30000"/>
            </a:avLst>
          </a:prstGeom>
          <a:solidFill>
            <a:srgbClr val="C25A36"/>
          </a:solidFill>
          <a:ln/>
          <a:effectLst>
            <a:outerShdw sx="100000" sy="100000" kx="0" ky="0" algn="bl" rotWithShape="0" blurRad="209550" dist="95250" dir="5400000">
              <a:srgbClr val="C25A36">
                <a:alpha val="60000"/>
              </a:srgbClr>
            </a:outerShdw>
          </a:effectLst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52477" y="7158038"/>
            <a:ext cx="180975" cy="18097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819177" y="7167563"/>
            <a:ext cx="6956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Contacter</a:t>
            </a:r>
            <a:endParaRPr lang="en-US" sz="1125" dirty="0"/>
          </a:p>
        </p:txBody>
      </p:sp>
      <p:sp>
        <p:nvSpPr>
          <p:cNvPr id="49" name="Text 40"/>
          <p:cNvSpPr/>
          <p:nvPr/>
        </p:nvSpPr>
        <p:spPr>
          <a:xfrm>
            <a:off x="5143500" y="2476500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LOCATAIRE</a:t>
            </a:r>
            <a:endParaRPr lang="en-US" sz="975" dirty="0"/>
          </a:p>
        </p:txBody>
      </p:sp>
      <p:sp>
        <p:nvSpPr>
          <p:cNvPr id="50" name="Text 41"/>
          <p:cNvSpPr/>
          <p:nvPr/>
        </p:nvSpPr>
        <p:spPr>
          <a:xfrm>
            <a:off x="5143500" y="2752725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d'une annonce</a:t>
            </a:r>
            <a:endParaRPr lang="en-US" sz="3600" dirty="0"/>
          </a:p>
        </p:txBody>
      </p:sp>
      <p:sp>
        <p:nvSpPr>
          <p:cNvPr id="51" name="Text 42"/>
          <p:cNvSpPr/>
          <p:nvPr/>
        </p:nvSpPr>
        <p:spPr>
          <a:xfrm>
            <a:off x="5143500" y="3423270"/>
            <a:ext cx="470916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l'information en un écran : galerie, prix, caractéristiques, et profil du propriétaire avec sa note. Le bouton de contact direct supprime l'intermédiaire coûteux.</a:t>
            </a:r>
            <a:endParaRPr lang="en-US" sz="1425" dirty="0"/>
          </a:p>
        </p:txBody>
      </p:sp>
      <p:sp>
        <p:nvSpPr>
          <p:cNvPr id="52" name="Shape 43"/>
          <p:cNvSpPr/>
          <p:nvPr/>
        </p:nvSpPr>
        <p:spPr>
          <a:xfrm>
            <a:off x="5143500" y="4905301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53" name="Text 44"/>
          <p:cNvSpPr/>
          <p:nvPr/>
        </p:nvSpPr>
        <p:spPr>
          <a:xfrm>
            <a:off x="5343525" y="4848151"/>
            <a:ext cx="33047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claires : pièces, surface, étage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5143500" y="5238676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55" name="Text 46"/>
          <p:cNvSpPr/>
          <p:nvPr/>
        </p:nvSpPr>
        <p:spPr>
          <a:xfrm>
            <a:off x="5343525" y="5181526"/>
            <a:ext cx="20966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propriétaire noté et avis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5143500" y="5572051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57" name="Text 48"/>
          <p:cNvSpPr/>
          <p:nvPr/>
        </p:nvSpPr>
        <p:spPr>
          <a:xfrm>
            <a:off x="5343525" y="5514901"/>
            <a:ext cx="21895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direct — sans courtier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91500"/>
          </a:xfrm>
          <a:prstGeom prst="rect">
            <a:avLst/>
          </a:prstGeom>
          <a:gradFill rotWithShape="1">
            <a:gsLst>
              <a:gs pos="0">
                <a:srgbClr val="F8E7DC">
                  <a:alpha val="100000"/>
                </a:srgbClr>
              </a:gs>
              <a:gs pos="52000">
                <a:srgbClr val="FBF6F0">
                  <a:alpha val="100000"/>
                </a:srgbClr>
              </a:gs>
            </a:gsLst>
            <a:path path="circle">
              <a:fillToRect l="82000" t="6000" r="18000" b="9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7734300" y="409575"/>
            <a:ext cx="3505200" cy="7372350"/>
          </a:xfrm>
          <a:prstGeom prst="roundRect">
            <a:avLst>
              <a:gd name="adj" fmla="val 12500"/>
            </a:avLst>
          </a:prstGeom>
          <a:solidFill>
            <a:srgbClr val="0E0B09"/>
          </a:solidFill>
          <a:ln/>
          <a:effectLst>
            <a:outerShdw sx="100000" sy="100000" kx="0" ky="0" algn="bl" rotWithShape="0" blurRad="666750" dist="342900" dir="5400000">
              <a:srgbClr val="3C1E0A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39075" y="514350"/>
            <a:ext cx="3295650" cy="7162800"/>
          </a:xfrm>
          <a:prstGeom prst="roundRect">
            <a:avLst>
              <a:gd name="adj" fmla="val 10405"/>
            </a:avLst>
          </a:prstGeom>
          <a:solidFill>
            <a:srgbClr val="FBF7F2"/>
          </a:solidFill>
          <a:ln/>
        </p:spPr>
      </p:sp>
      <p:sp>
        <p:nvSpPr>
          <p:cNvPr id="5" name="Text 3"/>
          <p:cNvSpPr/>
          <p:nvPr/>
        </p:nvSpPr>
        <p:spPr>
          <a:xfrm>
            <a:off x="8067675" y="657225"/>
            <a:ext cx="335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744200" y="681038"/>
            <a:ext cx="161925" cy="104775"/>
          </a:xfrm>
          <a:prstGeom prst="roundRect">
            <a:avLst>
              <a:gd name="adj" fmla="val 27273"/>
            </a:avLst>
          </a:prstGeom>
          <a:ln w="14288">
            <a:solidFill>
              <a:srgbClr val="2A21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2775" y="709613"/>
            <a:ext cx="76200" cy="47625"/>
          </a:xfrm>
          <a:prstGeom prst="roundRect">
            <a:avLst>
              <a:gd name="adj" fmla="val 20000"/>
            </a:avLst>
          </a:prstGeom>
          <a:solidFill>
            <a:srgbClr val="2A211B"/>
          </a:solidFill>
          <a:ln/>
        </p:spPr>
      </p:sp>
      <p:sp>
        <p:nvSpPr>
          <p:cNvPr id="8" name="Shape 6"/>
          <p:cNvSpPr/>
          <p:nvPr/>
        </p:nvSpPr>
        <p:spPr>
          <a:xfrm>
            <a:off x="8029575" y="904875"/>
            <a:ext cx="3619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0063" y="995363"/>
            <a:ext cx="180975" cy="1809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96300" y="985838"/>
            <a:ext cx="1730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une annonce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029575" y="1419225"/>
            <a:ext cx="933450" cy="47625"/>
          </a:xfrm>
          <a:prstGeom prst="roundRect">
            <a:avLst>
              <a:gd name="adj" fmla="val 50000"/>
            </a:avLst>
          </a:prstGeom>
          <a:solidFill>
            <a:srgbClr val="3C8C5E"/>
          </a:solidFill>
          <a:ln/>
        </p:spPr>
      </p:sp>
      <p:sp>
        <p:nvSpPr>
          <p:cNvPr id="12" name="Shape 9"/>
          <p:cNvSpPr/>
          <p:nvPr/>
        </p:nvSpPr>
        <p:spPr>
          <a:xfrm>
            <a:off x="9020175" y="1419225"/>
            <a:ext cx="933450" cy="47625"/>
          </a:xfrm>
          <a:prstGeom prst="roundRect">
            <a:avLst>
              <a:gd name="adj" fmla="val 50000"/>
            </a:avLst>
          </a:prstGeom>
          <a:solidFill>
            <a:srgbClr val="C25A3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10775" y="1419225"/>
            <a:ext cx="933450" cy="4762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/>
        </p:spPr>
      </p:sp>
      <p:sp>
        <p:nvSpPr>
          <p:cNvPr id="14" name="Text 11"/>
          <p:cNvSpPr/>
          <p:nvPr/>
        </p:nvSpPr>
        <p:spPr>
          <a:xfrm>
            <a:off x="8029575" y="1543050"/>
            <a:ext cx="30135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/ 3 · Détails du logement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8029575" y="1838325"/>
            <a:ext cx="32061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du logement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29575" y="2076450"/>
            <a:ext cx="704850" cy="704850"/>
          </a:xfrm>
          <a:prstGeom prst="roundRect">
            <a:avLst>
              <a:gd name="adj" fmla="val 18919"/>
            </a:avLst>
          </a:prstGeom>
          <a:solidFill>
            <a:srgbClr val="EFE6DB"/>
          </a:solidFill>
          <a:ln/>
        </p:spPr>
      </p:sp>
      <p:sp>
        <p:nvSpPr>
          <p:cNvPr id="17" name="Shape 14"/>
          <p:cNvSpPr/>
          <p:nvPr/>
        </p:nvSpPr>
        <p:spPr>
          <a:xfrm>
            <a:off x="8515350" y="2124075"/>
            <a:ext cx="171450" cy="171450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18" name="Text 15"/>
          <p:cNvSpPr/>
          <p:nvPr/>
        </p:nvSpPr>
        <p:spPr>
          <a:xfrm>
            <a:off x="8477250" y="212407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8829675" y="2076450"/>
            <a:ext cx="704850" cy="704850"/>
          </a:xfrm>
          <a:prstGeom prst="roundRect">
            <a:avLst>
              <a:gd name="adj" fmla="val 18919"/>
            </a:avLst>
          </a:prstGeom>
          <a:solidFill>
            <a:srgbClr val="ECE7DC"/>
          </a:solidFill>
          <a:ln/>
        </p:spPr>
      </p:sp>
      <p:sp>
        <p:nvSpPr>
          <p:cNvPr id="20" name="Shape 17"/>
          <p:cNvSpPr/>
          <p:nvPr/>
        </p:nvSpPr>
        <p:spPr>
          <a:xfrm>
            <a:off x="9315450" y="2124075"/>
            <a:ext cx="171450" cy="171450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21" name="Text 18"/>
          <p:cNvSpPr/>
          <p:nvPr/>
        </p:nvSpPr>
        <p:spPr>
          <a:xfrm>
            <a:off x="9277350" y="2124075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9629775" y="2076450"/>
            <a:ext cx="704850" cy="704850"/>
          </a:xfrm>
          <a:prstGeom prst="roundRect">
            <a:avLst>
              <a:gd name="adj" fmla="val 18919"/>
            </a:avLst>
          </a:prstGeom>
          <a:ln w="19050">
            <a:solidFill>
              <a:srgbClr val="D8CABA"/>
            </a:solidFill>
            <a:prstDash val="dash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2188" y="2247900"/>
            <a:ext cx="200025" cy="2000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826451" y="2486025"/>
            <a:ext cx="38769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8029575" y="2933700"/>
            <a:ext cx="32061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l'annonce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29575" y="3152775"/>
            <a:ext cx="2914650" cy="419100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81975" y="3276600"/>
            <a:ext cx="26972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 proche UCAD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029575" y="3705225"/>
            <a:ext cx="32061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logement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029575" y="3924300"/>
            <a:ext cx="683419" cy="35718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001000" y="4029075"/>
            <a:ext cx="7405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779669" y="3924300"/>
            <a:ext cx="664369" cy="357188"/>
          </a:xfrm>
          <a:prstGeom prst="roundRect">
            <a:avLst>
              <a:gd name="adj" fmla="val 32000"/>
            </a:avLst>
          </a:prstGeom>
          <a:solidFill>
            <a:srgbClr val="C25A36"/>
          </a:solidFill>
          <a:ln/>
        </p:spPr>
      </p:sp>
      <p:sp>
        <p:nvSpPr>
          <p:cNvPr id="32" name="Text 28"/>
          <p:cNvSpPr/>
          <p:nvPr/>
        </p:nvSpPr>
        <p:spPr>
          <a:xfrm>
            <a:off x="8741569" y="4019550"/>
            <a:ext cx="74056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510713" y="3924300"/>
            <a:ext cx="683419" cy="35718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482138" y="4029075"/>
            <a:ext cx="7405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260806" y="3924300"/>
            <a:ext cx="683419" cy="35718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232231" y="4029075"/>
            <a:ext cx="7405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029575" y="4414838"/>
            <a:ext cx="15454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Loyer (FCFA)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8029575" y="4633913"/>
            <a:ext cx="1404938" cy="400050"/>
          </a:xfrm>
          <a:prstGeom prst="roundRect">
            <a:avLst>
              <a:gd name="adj" fmla="val 30952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81975" y="4757738"/>
            <a:ext cx="11763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539288" y="4414838"/>
            <a:ext cx="15454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9539288" y="4633913"/>
            <a:ext cx="1404938" cy="419100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691688" y="4757738"/>
            <a:ext cx="4849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10706621" y="4757738"/>
            <a:ext cx="161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3A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8029575" y="5205413"/>
            <a:ext cx="2914650" cy="600075"/>
          </a:xfrm>
          <a:prstGeom prst="roundRect">
            <a:avLst>
              <a:gd name="adj" fmla="val 22222"/>
            </a:avLst>
          </a:prstGeom>
          <a:solidFill>
            <a:srgbClr val="E4F0E8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3875" y="5329238"/>
            <a:ext cx="190500" cy="19050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8429625" y="5319713"/>
            <a:ext cx="24765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annonce sera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vérifiée par un administrateur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sa mise en ligne.</a:t>
            </a:r>
            <a:endParaRPr lang="en-US" sz="975" dirty="0"/>
          </a:p>
        </p:txBody>
      </p:sp>
      <p:sp>
        <p:nvSpPr>
          <p:cNvPr id="47" name="Shape 42"/>
          <p:cNvSpPr/>
          <p:nvPr/>
        </p:nvSpPr>
        <p:spPr>
          <a:xfrm>
            <a:off x="7839075" y="6877050"/>
            <a:ext cx="3295650" cy="800100"/>
          </a:xfrm>
          <a:prstGeom prst="rect">
            <a:avLst/>
          </a:prstGeom>
          <a:solidFill>
            <a:srgbClr val="FBF7F2">
              <a:alpha val="95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7839075" y="6877050"/>
            <a:ext cx="3295650" cy="9525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49" name="Shape 44"/>
          <p:cNvSpPr/>
          <p:nvPr/>
        </p:nvSpPr>
        <p:spPr>
          <a:xfrm>
            <a:off x="8010525" y="7010400"/>
            <a:ext cx="2952750" cy="476250"/>
          </a:xfrm>
          <a:prstGeom prst="roundRect">
            <a:avLst>
              <a:gd name="adj" fmla="val 30000"/>
            </a:avLst>
          </a:prstGeom>
          <a:solidFill>
            <a:srgbClr val="C25A36"/>
          </a:solidFill>
          <a:ln/>
          <a:effectLst>
            <a:outerShdw sx="100000" sy="100000" kx="0" ky="0" algn="bl" rotWithShape="0" blurRad="209550" dist="95250" dir="5400000">
              <a:srgbClr val="C25A36">
                <a:alpha val="60000"/>
              </a:srgbClr>
            </a:outerShdw>
          </a:effectLst>
        </p:spPr>
      </p:sp>
      <p:sp>
        <p:nvSpPr>
          <p:cNvPr id="50" name="Text 45"/>
          <p:cNvSpPr/>
          <p:nvPr/>
        </p:nvSpPr>
        <p:spPr>
          <a:xfrm>
            <a:off x="7966234" y="7010400"/>
            <a:ext cx="30413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Soumettre pour validation</a:t>
            </a:r>
            <a:endParaRPr lang="en-US" sz="1125" dirty="0"/>
          </a:p>
        </p:txBody>
      </p:sp>
      <p:sp>
        <p:nvSpPr>
          <p:cNvPr id="51" name="Text 46"/>
          <p:cNvSpPr/>
          <p:nvPr/>
        </p:nvSpPr>
        <p:spPr>
          <a:xfrm>
            <a:off x="952500" y="2476500"/>
            <a:ext cx="6705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PROPRIÉTAIRE</a:t>
            </a:r>
            <a:endParaRPr lang="en-US" sz="975" dirty="0"/>
          </a:p>
        </p:txBody>
      </p:sp>
      <p:sp>
        <p:nvSpPr>
          <p:cNvPr id="52" name="Text 47"/>
          <p:cNvSpPr/>
          <p:nvPr/>
        </p:nvSpPr>
        <p:spPr>
          <a:xfrm>
            <a:off x="952500" y="2752725"/>
            <a:ext cx="67056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72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une annonce</a:t>
            </a:r>
            <a:endParaRPr lang="en-US" sz="3600" dirty="0"/>
          </a:p>
        </p:txBody>
      </p:sp>
      <p:sp>
        <p:nvSpPr>
          <p:cNvPr id="53" name="Text 48"/>
          <p:cNvSpPr/>
          <p:nvPr/>
        </p:nvSpPr>
        <p:spPr>
          <a:xfrm>
            <a:off x="952500" y="3423270"/>
            <a:ext cx="470916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formulaire guidé en trois étapes : photos, détails, confirmation. Toute annonce passe en statut </a:t>
            </a:r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EN_ATTENTE </a:t>
            </a:r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est validée par un administrateur avant publication.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952500" y="4905301"/>
            <a:ext cx="85725" cy="857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55" name="Text 50"/>
          <p:cNvSpPr/>
          <p:nvPr/>
        </p:nvSpPr>
        <p:spPr>
          <a:xfrm>
            <a:off x="1152525" y="4848151"/>
            <a:ext cx="2051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photos obligatoire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952500" y="5238676"/>
            <a:ext cx="85725" cy="85725"/>
          </a:xfrm>
          <a:prstGeom prst="ellipse">
            <a:avLst/>
          </a:prstGeom>
          <a:solidFill>
            <a:srgbClr val="3C8C5E"/>
          </a:solidFill>
          <a:ln/>
        </p:spPr>
      </p:sp>
      <p:sp>
        <p:nvSpPr>
          <p:cNvPr id="57" name="Text 52"/>
          <p:cNvSpPr/>
          <p:nvPr/>
        </p:nvSpPr>
        <p:spPr>
          <a:xfrm>
            <a:off x="1152525" y="5181526"/>
            <a:ext cx="31385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administrateur avant mise en ligne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952500" y="5572051"/>
            <a:ext cx="85725" cy="85725"/>
          </a:xfrm>
          <a:prstGeom prst="ellipse">
            <a:avLst/>
          </a:prstGeom>
          <a:solidFill>
            <a:srgbClr val="E0A24E"/>
          </a:solidFill>
          <a:ln/>
        </p:spPr>
      </p:sp>
      <p:sp>
        <p:nvSpPr>
          <p:cNvPr id="59" name="Text 54"/>
          <p:cNvSpPr/>
          <p:nvPr/>
        </p:nvSpPr>
        <p:spPr>
          <a:xfrm>
            <a:off x="1152525" y="5514901"/>
            <a:ext cx="28401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structurés : type, loyer, quartier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1050"/>
            <a:ext cx="12192000" cy="9525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219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C25A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4363" y="300038"/>
            <a:ext cx="180975" cy="18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1075" y="271463"/>
            <a:ext cx="9860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HomeLink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526036" y="309563"/>
            <a:ext cx="5368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10509" y="297656"/>
            <a:ext cx="8114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5369644" y="297656"/>
            <a:ext cx="68788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305178" y="297656"/>
            <a:ext cx="146922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275862" y="309563"/>
            <a:ext cx="7593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10092333" y="209550"/>
            <a:ext cx="1566267" cy="361950"/>
          </a:xfrm>
          <a:prstGeom prst="roundRect">
            <a:avLst>
              <a:gd name="adj" fmla="val 28947"/>
            </a:avLst>
          </a:prstGeom>
          <a:solidFill>
            <a:srgbClr val="C25A36"/>
          </a:solidFill>
          <a:ln/>
        </p:spPr>
      </p:sp>
      <p:sp>
        <p:nvSpPr>
          <p:cNvPr id="12" name="Text 9"/>
          <p:cNvSpPr/>
          <p:nvPr/>
        </p:nvSpPr>
        <p:spPr>
          <a:xfrm>
            <a:off x="10263783" y="314325"/>
            <a:ext cx="12995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une annonce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3400" y="1209675"/>
            <a:ext cx="2364209" cy="285750"/>
          </a:xfrm>
          <a:prstGeom prst="roundRect">
            <a:avLst>
              <a:gd name="adj" fmla="val 50000"/>
            </a:avLst>
          </a:prstGeom>
          <a:solidFill>
            <a:srgbClr val="F6E7DF"/>
          </a:solidFill>
          <a:ln/>
        </p:spPr>
      </p:sp>
      <p:sp>
        <p:nvSpPr>
          <p:cNvPr id="14" name="Text 11"/>
          <p:cNvSpPr/>
          <p:nvPr/>
        </p:nvSpPr>
        <p:spPr>
          <a:xfrm>
            <a:off x="666750" y="1276350"/>
            <a:ext cx="21737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Dalal ak jàmm · Bienvenue à Dakar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3400" y="1666875"/>
            <a:ext cx="667131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750" b="1" spc="-94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Trouvez votre logement à Dakar, </a:t>
            </a:r>
            <a:pPr algn="l" indent="0" marL="0">
              <a:lnSpc>
                <a:spcPct val="102000"/>
              </a:lnSpc>
              <a:buNone/>
            </a:pPr>
            <a:r>
              <a:rPr lang="en-US" sz="3750" b="1" spc="-94" kern="0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courtier.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533400" y="2790825"/>
            <a:ext cx="461105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6B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annonces vérifiées, des prix transparents, et un contact direct avec les propriétaires — quartier par quartier.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533400" y="3524250"/>
            <a:ext cx="533400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381000" dist="152400" dir="5400000">
              <a:srgbClr val="3C1E0A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76264" y="3629025"/>
            <a:ext cx="9525" cy="457200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19" name="Text 16"/>
          <p:cNvSpPr/>
          <p:nvPr/>
        </p:nvSpPr>
        <p:spPr>
          <a:xfrm>
            <a:off x="771525" y="3705225"/>
            <a:ext cx="9475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8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771525" y="3848100"/>
            <a:ext cx="9475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3019202" y="3629025"/>
            <a:ext cx="9525" cy="457200"/>
          </a:xfrm>
          <a:prstGeom prst="rect">
            <a:avLst/>
          </a:prstGeom>
          <a:solidFill>
            <a:srgbClr val="F0E8DD"/>
          </a:solidFill>
          <a:ln/>
        </p:spPr>
      </p:sp>
      <p:sp>
        <p:nvSpPr>
          <p:cNvPr id="22" name="Text 19"/>
          <p:cNvSpPr/>
          <p:nvPr/>
        </p:nvSpPr>
        <p:spPr>
          <a:xfrm>
            <a:off x="2014389" y="3705225"/>
            <a:ext cx="947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8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2014389" y="3848100"/>
            <a:ext cx="9476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3257327" y="3705225"/>
            <a:ext cx="9475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8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MAX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257327" y="3848100"/>
            <a:ext cx="9475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150 000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357315" y="3629025"/>
            <a:ext cx="1405310" cy="457200"/>
          </a:xfrm>
          <a:prstGeom prst="roundRect">
            <a:avLst>
              <a:gd name="adj" fmla="val 27083"/>
            </a:avLst>
          </a:prstGeom>
          <a:solidFill>
            <a:srgbClr val="C25A3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6865" y="3771900"/>
            <a:ext cx="171450" cy="1714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14515" y="3776662"/>
            <a:ext cx="81476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33400" y="4457700"/>
            <a:ext cx="8405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2 400+</a:t>
            </a:r>
            <a:endParaRPr lang="en-US" sz="1950" dirty="0"/>
          </a:p>
        </p:txBody>
      </p:sp>
      <p:sp>
        <p:nvSpPr>
          <p:cNvPr id="30" name="Text 26"/>
          <p:cNvSpPr/>
          <p:nvPr/>
        </p:nvSpPr>
        <p:spPr>
          <a:xfrm>
            <a:off x="533400" y="4743450"/>
            <a:ext cx="8405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logements</a:t>
            </a:r>
            <a:endParaRPr lang="en-US" sz="975" dirty="0"/>
          </a:p>
        </p:txBody>
      </p:sp>
      <p:sp>
        <p:nvSpPr>
          <p:cNvPr id="31" name="Text 27"/>
          <p:cNvSpPr/>
          <p:nvPr/>
        </p:nvSpPr>
        <p:spPr>
          <a:xfrm>
            <a:off x="1678781" y="4457700"/>
            <a:ext cx="5783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950" dirty="0"/>
          </a:p>
        </p:txBody>
      </p:sp>
      <p:sp>
        <p:nvSpPr>
          <p:cNvPr id="32" name="Text 28"/>
          <p:cNvSpPr/>
          <p:nvPr/>
        </p:nvSpPr>
        <p:spPr>
          <a:xfrm>
            <a:off x="1678781" y="4743450"/>
            <a:ext cx="5783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quartiers</a:t>
            </a:r>
            <a:endParaRPr lang="en-US" sz="975" dirty="0"/>
          </a:p>
        </p:txBody>
      </p:sp>
      <p:sp>
        <p:nvSpPr>
          <p:cNvPr id="33" name="Text 29"/>
          <p:cNvSpPr/>
          <p:nvPr/>
        </p:nvSpPr>
        <p:spPr>
          <a:xfrm>
            <a:off x="2561927" y="4457700"/>
            <a:ext cx="7096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50" dirty="0"/>
          </a:p>
        </p:txBody>
      </p:sp>
      <p:sp>
        <p:nvSpPr>
          <p:cNvPr id="34" name="Text 30"/>
          <p:cNvSpPr/>
          <p:nvPr/>
        </p:nvSpPr>
        <p:spPr>
          <a:xfrm>
            <a:off x="2561927" y="4743450"/>
            <a:ext cx="7096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vérifiés</a:t>
            </a:r>
            <a:endParaRPr lang="en-US" sz="975" dirty="0"/>
          </a:p>
        </p:txBody>
      </p:sp>
      <p:sp>
        <p:nvSpPr>
          <p:cNvPr id="35" name="Shape 31"/>
          <p:cNvSpPr/>
          <p:nvPr/>
        </p:nvSpPr>
        <p:spPr>
          <a:xfrm>
            <a:off x="7467600" y="1662113"/>
            <a:ext cx="2033588" cy="2790825"/>
          </a:xfrm>
          <a:prstGeom prst="roundRect">
            <a:avLst>
              <a:gd name="adj" fmla="val 8431"/>
            </a:avLst>
          </a:prstGeom>
          <a:solidFill>
            <a:srgbClr val="E7C9B6"/>
          </a:solidFill>
          <a:ln/>
        </p:spPr>
      </p:sp>
      <p:sp>
        <p:nvSpPr>
          <p:cNvPr id="36" name="Shape 32"/>
          <p:cNvSpPr/>
          <p:nvPr/>
        </p:nvSpPr>
        <p:spPr>
          <a:xfrm>
            <a:off x="9625013" y="1662113"/>
            <a:ext cx="2033588" cy="1333500"/>
          </a:xfrm>
          <a:prstGeom prst="roundRect">
            <a:avLst>
              <a:gd name="adj" fmla="val 12857"/>
            </a:avLst>
          </a:prstGeom>
          <a:solidFill>
            <a:srgbClr val="D8C9BA"/>
          </a:solidFill>
          <a:ln/>
        </p:spPr>
      </p:sp>
      <p:sp>
        <p:nvSpPr>
          <p:cNvPr id="37" name="Shape 33"/>
          <p:cNvSpPr/>
          <p:nvPr/>
        </p:nvSpPr>
        <p:spPr>
          <a:xfrm>
            <a:off x="9625013" y="3119438"/>
            <a:ext cx="2033588" cy="1333500"/>
          </a:xfrm>
          <a:prstGeom prst="roundRect">
            <a:avLst>
              <a:gd name="adj" fmla="val 12857"/>
            </a:avLst>
          </a:prstGeom>
          <a:solidFill>
            <a:srgbClr val="E0CDB6"/>
          </a:solidFill>
          <a:ln/>
        </p:spPr>
      </p:sp>
      <p:sp>
        <p:nvSpPr>
          <p:cNvPr id="38" name="Text 34"/>
          <p:cNvSpPr/>
          <p:nvPr/>
        </p:nvSpPr>
        <p:spPr>
          <a:xfrm>
            <a:off x="533400" y="5248275"/>
            <a:ext cx="23149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en vedette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9919246" y="5329238"/>
            <a:ext cx="19132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toutes les annonces →</a:t>
            </a:r>
            <a:endParaRPr lang="en-US" sz="1125" dirty="0"/>
          </a:p>
        </p:txBody>
      </p:sp>
      <p:sp>
        <p:nvSpPr>
          <p:cNvPr id="40" name="Shape 36"/>
          <p:cNvSpPr/>
          <p:nvPr/>
        </p:nvSpPr>
        <p:spPr>
          <a:xfrm>
            <a:off x="533400" y="5681663"/>
            <a:ext cx="263842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209550" dist="76200" dir="5400000">
              <a:srgbClr val="3C1E0A">
                <a:alpha val="22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42925" y="5691188"/>
            <a:ext cx="2619375" cy="1143000"/>
          </a:xfrm>
          <a:prstGeom prst="rect">
            <a:avLst/>
          </a:prstGeom>
          <a:solidFill>
            <a:srgbClr val="EFE6DB"/>
          </a:solidFill>
          <a:ln/>
        </p:spPr>
      </p:sp>
      <p:sp>
        <p:nvSpPr>
          <p:cNvPr id="42" name="Shape 38"/>
          <p:cNvSpPr/>
          <p:nvPr/>
        </p:nvSpPr>
        <p:spPr>
          <a:xfrm>
            <a:off x="647700" y="5795963"/>
            <a:ext cx="660722" cy="20002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43" name="Text 39"/>
          <p:cNvSpPr/>
          <p:nvPr/>
        </p:nvSpPr>
        <p:spPr>
          <a:xfrm>
            <a:off x="733425" y="5834063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685800" y="6948488"/>
            <a:ext cx="25669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685800" y="7153275"/>
            <a:ext cx="25669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 · 25 m²</a:t>
            </a:r>
            <a:endParaRPr lang="en-US" sz="975" dirty="0"/>
          </a:p>
        </p:txBody>
      </p:sp>
      <p:sp>
        <p:nvSpPr>
          <p:cNvPr id="46" name="Text 42"/>
          <p:cNvSpPr/>
          <p:nvPr/>
        </p:nvSpPr>
        <p:spPr>
          <a:xfrm>
            <a:off x="685800" y="7391400"/>
            <a:ext cx="256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 </a:t>
            </a:r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275" dirty="0"/>
          </a:p>
        </p:txBody>
      </p:sp>
      <p:sp>
        <p:nvSpPr>
          <p:cNvPr id="47" name="Shape 43"/>
          <p:cNvSpPr/>
          <p:nvPr/>
        </p:nvSpPr>
        <p:spPr>
          <a:xfrm>
            <a:off x="3362325" y="5681663"/>
            <a:ext cx="263842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209550" dist="76200" dir="5400000">
              <a:srgbClr val="3C1E0A">
                <a:alpha val="22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3371850" y="5691188"/>
            <a:ext cx="2619375" cy="1143000"/>
          </a:xfrm>
          <a:prstGeom prst="rect">
            <a:avLst/>
          </a:prstGeom>
          <a:solidFill>
            <a:srgbClr val="ECE7DC"/>
          </a:solidFill>
          <a:ln/>
        </p:spPr>
      </p:sp>
      <p:sp>
        <p:nvSpPr>
          <p:cNvPr id="49" name="Shape 45"/>
          <p:cNvSpPr/>
          <p:nvPr/>
        </p:nvSpPr>
        <p:spPr>
          <a:xfrm>
            <a:off x="3476625" y="5795963"/>
            <a:ext cx="829419" cy="200025"/>
          </a:xfrm>
          <a:prstGeom prst="roundRect">
            <a:avLst>
              <a:gd name="adj" fmla="val 50000"/>
            </a:avLst>
          </a:prstGeom>
          <a:solidFill>
            <a:srgbClr val="F6E7DF"/>
          </a:solidFill>
          <a:ln/>
        </p:spPr>
      </p:sp>
      <p:sp>
        <p:nvSpPr>
          <p:cNvPr id="50" name="Text 46"/>
          <p:cNvSpPr/>
          <p:nvPr/>
        </p:nvSpPr>
        <p:spPr>
          <a:xfrm>
            <a:off x="3562350" y="5834063"/>
            <a:ext cx="734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Proche UCAD</a:t>
            </a:r>
            <a:endParaRPr lang="en-US" sz="825" dirty="0"/>
          </a:p>
        </p:txBody>
      </p:sp>
      <p:sp>
        <p:nvSpPr>
          <p:cNvPr id="51" name="Text 47"/>
          <p:cNvSpPr/>
          <p:nvPr/>
        </p:nvSpPr>
        <p:spPr>
          <a:xfrm>
            <a:off x="3514725" y="6948488"/>
            <a:ext cx="25669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 étudiante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3514725" y="7153275"/>
            <a:ext cx="25669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Fann · 14 m²</a:t>
            </a:r>
            <a:endParaRPr lang="en-US" sz="975" dirty="0"/>
          </a:p>
        </p:txBody>
      </p:sp>
      <p:sp>
        <p:nvSpPr>
          <p:cNvPr id="53" name="Text 49"/>
          <p:cNvSpPr/>
          <p:nvPr/>
        </p:nvSpPr>
        <p:spPr>
          <a:xfrm>
            <a:off x="3514725" y="7391400"/>
            <a:ext cx="256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 </a:t>
            </a:r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275" dirty="0"/>
          </a:p>
        </p:txBody>
      </p:sp>
      <p:sp>
        <p:nvSpPr>
          <p:cNvPr id="54" name="Shape 50"/>
          <p:cNvSpPr/>
          <p:nvPr/>
        </p:nvSpPr>
        <p:spPr>
          <a:xfrm>
            <a:off x="6191250" y="5681663"/>
            <a:ext cx="263842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209550" dist="76200" dir="5400000">
              <a:srgbClr val="3C1E0A">
                <a:alpha val="22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200775" y="5691188"/>
            <a:ext cx="2619375" cy="1143000"/>
          </a:xfrm>
          <a:prstGeom prst="rect">
            <a:avLst/>
          </a:prstGeom>
          <a:solidFill>
            <a:srgbClr val="E7E0D3"/>
          </a:solidFill>
          <a:ln/>
        </p:spPr>
      </p:sp>
      <p:sp>
        <p:nvSpPr>
          <p:cNvPr id="56" name="Shape 52"/>
          <p:cNvSpPr/>
          <p:nvPr/>
        </p:nvSpPr>
        <p:spPr>
          <a:xfrm>
            <a:off x="6305550" y="5795963"/>
            <a:ext cx="660722" cy="20002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57" name="Text 53"/>
          <p:cNvSpPr/>
          <p:nvPr/>
        </p:nvSpPr>
        <p:spPr>
          <a:xfrm>
            <a:off x="6391275" y="5834063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58" name="Text 54"/>
          <p:cNvSpPr/>
          <p:nvPr/>
        </p:nvSpPr>
        <p:spPr>
          <a:xfrm>
            <a:off x="6343650" y="6948488"/>
            <a:ext cx="25669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Appart. 2 pièces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6343650" y="7153275"/>
            <a:ext cx="25669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Mermoz · 60 m²</a:t>
            </a:r>
            <a:endParaRPr lang="en-US" sz="975" dirty="0"/>
          </a:p>
        </p:txBody>
      </p:sp>
      <p:sp>
        <p:nvSpPr>
          <p:cNvPr id="60" name="Text 56"/>
          <p:cNvSpPr/>
          <p:nvPr/>
        </p:nvSpPr>
        <p:spPr>
          <a:xfrm>
            <a:off x="6343650" y="7391400"/>
            <a:ext cx="256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220 000 </a:t>
            </a:r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275" dirty="0"/>
          </a:p>
        </p:txBody>
      </p:sp>
      <p:sp>
        <p:nvSpPr>
          <p:cNvPr id="61" name="Shape 57"/>
          <p:cNvSpPr/>
          <p:nvPr/>
        </p:nvSpPr>
        <p:spPr>
          <a:xfrm>
            <a:off x="9020175" y="5681663"/>
            <a:ext cx="2638425" cy="2038350"/>
          </a:xfrm>
          <a:prstGeom prst="roundRect">
            <a:avLst>
              <a:gd name="adj" fmla="val 8411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  <a:effectLst>
            <a:outerShdw sx="100000" sy="100000" kx="0" ky="0" algn="bl" rotWithShape="0" blurRad="209550" dist="76200" dir="5400000">
              <a:srgbClr val="3C1E0A">
                <a:alpha val="22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9029700" y="5691188"/>
            <a:ext cx="2619375" cy="1143000"/>
          </a:xfrm>
          <a:prstGeom prst="rect">
            <a:avLst/>
          </a:prstGeom>
          <a:solidFill>
            <a:srgbClr val="E5D0BC"/>
          </a:solidFill>
          <a:ln/>
        </p:spPr>
      </p:sp>
      <p:sp>
        <p:nvSpPr>
          <p:cNvPr id="63" name="Shape 59"/>
          <p:cNvSpPr/>
          <p:nvPr/>
        </p:nvSpPr>
        <p:spPr>
          <a:xfrm>
            <a:off x="9134475" y="5795963"/>
            <a:ext cx="660722" cy="200025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/>
        </p:spPr>
      </p:sp>
      <p:sp>
        <p:nvSpPr>
          <p:cNvPr id="64" name="Text 60"/>
          <p:cNvSpPr/>
          <p:nvPr/>
        </p:nvSpPr>
        <p:spPr>
          <a:xfrm>
            <a:off x="9220200" y="5834063"/>
            <a:ext cx="5654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825" dirty="0"/>
          </a:p>
        </p:txBody>
      </p:sp>
      <p:sp>
        <p:nvSpPr>
          <p:cNvPr id="65" name="Text 61"/>
          <p:cNvSpPr/>
          <p:nvPr/>
        </p:nvSpPr>
        <p:spPr>
          <a:xfrm>
            <a:off x="9172575" y="6948488"/>
            <a:ext cx="25669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 4 chambres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9172575" y="7153275"/>
            <a:ext cx="25669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Ngor · vue mer</a:t>
            </a:r>
            <a:endParaRPr lang="en-US" sz="975" dirty="0"/>
          </a:p>
        </p:txBody>
      </p:sp>
      <p:sp>
        <p:nvSpPr>
          <p:cNvPr id="67" name="Text 63"/>
          <p:cNvSpPr/>
          <p:nvPr/>
        </p:nvSpPr>
        <p:spPr>
          <a:xfrm>
            <a:off x="9172575" y="7391400"/>
            <a:ext cx="25669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650 000 </a:t>
            </a:r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62200" cy="8191500"/>
          </a:xfrm>
          <a:prstGeom prst="rect">
            <a:avLst/>
          </a:prstGeom>
          <a:solidFill>
            <a:srgbClr val="2A211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571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C25A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328613"/>
            <a:ext cx="161925" cy="1619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247650"/>
            <a:ext cx="9592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HomeLink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628650" y="433388"/>
            <a:ext cx="95927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A8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152400" y="819150"/>
            <a:ext cx="2057400" cy="400050"/>
          </a:xfrm>
          <a:prstGeom prst="roundRect">
            <a:avLst>
              <a:gd name="adj" fmla="val 26190"/>
            </a:avLst>
          </a:prstGeom>
          <a:solidFill>
            <a:srgbClr val="C25A3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" y="933450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1975" y="942975"/>
            <a:ext cx="10326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138112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1975" y="1381125"/>
            <a:ext cx="6607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1865709" y="1385888"/>
            <a:ext cx="210741" cy="161925"/>
          </a:xfrm>
          <a:prstGeom prst="ellipse">
            <a:avLst/>
          </a:prstGeom>
          <a:solidFill>
            <a:srgbClr val="C25A36"/>
          </a:solidFill>
          <a:ln/>
        </p:spPr>
      </p:sp>
      <p:sp>
        <p:nvSpPr>
          <p:cNvPr id="13" name="Text 8"/>
          <p:cNvSpPr/>
          <p:nvPr/>
        </p:nvSpPr>
        <p:spPr>
          <a:xfrm>
            <a:off x="1941909" y="1404938"/>
            <a:ext cx="794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750" y="1828800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1975" y="1828800"/>
            <a:ext cx="744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750" y="2276475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1975" y="2276475"/>
            <a:ext cx="3161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5750" y="2724150"/>
            <a:ext cx="171450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1975" y="2724150"/>
            <a:ext cx="641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B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152400" y="7362825"/>
            <a:ext cx="2057400" cy="9525"/>
          </a:xfrm>
          <a:prstGeom prst="rect">
            <a:avLst/>
          </a:prstGeom>
          <a:solidFill>
            <a:srgbClr val="41372D"/>
          </a:solidFill>
          <a:ln/>
        </p:spPr>
      </p:sp>
      <p:sp>
        <p:nvSpPr>
          <p:cNvPr id="21" name="Shape 13"/>
          <p:cNvSpPr/>
          <p:nvPr/>
        </p:nvSpPr>
        <p:spPr>
          <a:xfrm>
            <a:off x="228600" y="7486650"/>
            <a:ext cx="342900" cy="342900"/>
          </a:xfrm>
          <a:prstGeom prst="ellipse">
            <a:avLst/>
          </a:prstGeom>
          <a:solidFill>
            <a:srgbClr val="5A4C3E"/>
          </a:solidFill>
          <a:ln/>
        </p:spPr>
      </p:sp>
      <p:sp>
        <p:nvSpPr>
          <p:cNvPr id="22" name="Text 14"/>
          <p:cNvSpPr/>
          <p:nvPr/>
        </p:nvSpPr>
        <p:spPr>
          <a:xfrm>
            <a:off x="676275" y="7515225"/>
            <a:ext cx="77100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Sow</a:t>
            </a:r>
            <a:endParaRPr lang="en-US" sz="975" dirty="0"/>
          </a:p>
        </p:txBody>
      </p:sp>
      <p:sp>
        <p:nvSpPr>
          <p:cNvPr id="23" name="Text 15"/>
          <p:cNvSpPr/>
          <p:nvPr/>
        </p:nvSpPr>
        <p:spPr>
          <a:xfrm>
            <a:off x="676275" y="7662863"/>
            <a:ext cx="77100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A8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</a:t>
            </a:r>
            <a:endParaRPr lang="en-US" sz="825" dirty="0"/>
          </a:p>
        </p:txBody>
      </p:sp>
      <p:sp>
        <p:nvSpPr>
          <p:cNvPr id="24" name="Text 16"/>
          <p:cNvSpPr/>
          <p:nvPr/>
        </p:nvSpPr>
        <p:spPr>
          <a:xfrm>
            <a:off x="2743200" y="323850"/>
            <a:ext cx="99745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2100" dirty="0"/>
          </a:p>
        </p:txBody>
      </p:sp>
      <p:sp>
        <p:nvSpPr>
          <p:cNvPr id="25" name="Text 17"/>
          <p:cNvSpPr/>
          <p:nvPr/>
        </p:nvSpPr>
        <p:spPr>
          <a:xfrm>
            <a:off x="2743200" y="671513"/>
            <a:ext cx="99745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de l'activité — Jeudi 19 juin 2026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2743200" y="1090613"/>
            <a:ext cx="2138363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962275" y="1290638"/>
            <a:ext cx="1870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75" dirty="0"/>
          </a:p>
        </p:txBody>
      </p:sp>
      <p:sp>
        <p:nvSpPr>
          <p:cNvPr id="28" name="Text 20"/>
          <p:cNvSpPr/>
          <p:nvPr/>
        </p:nvSpPr>
        <p:spPr>
          <a:xfrm>
            <a:off x="2962275" y="1509713"/>
            <a:ext cx="18702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550" dirty="0"/>
          </a:p>
        </p:txBody>
      </p:sp>
      <p:sp>
        <p:nvSpPr>
          <p:cNvPr id="29" name="Shape 21"/>
          <p:cNvSpPr/>
          <p:nvPr/>
        </p:nvSpPr>
        <p:spPr>
          <a:xfrm>
            <a:off x="5053013" y="1090613"/>
            <a:ext cx="2138363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272088" y="1290638"/>
            <a:ext cx="1870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publiées</a:t>
            </a:r>
            <a:endParaRPr lang="en-US" sz="975" dirty="0"/>
          </a:p>
        </p:txBody>
      </p:sp>
      <p:sp>
        <p:nvSpPr>
          <p:cNvPr id="31" name="Text 23"/>
          <p:cNvSpPr/>
          <p:nvPr/>
        </p:nvSpPr>
        <p:spPr>
          <a:xfrm>
            <a:off x="5272088" y="1509713"/>
            <a:ext cx="18702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2 418</a:t>
            </a:r>
            <a:endParaRPr lang="en-US" sz="2550" dirty="0"/>
          </a:p>
        </p:txBody>
      </p:sp>
      <p:sp>
        <p:nvSpPr>
          <p:cNvPr id="32" name="Shape 24"/>
          <p:cNvSpPr/>
          <p:nvPr/>
        </p:nvSpPr>
        <p:spPr>
          <a:xfrm>
            <a:off x="7362825" y="1090613"/>
            <a:ext cx="2138363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581900" y="1290638"/>
            <a:ext cx="1870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Propriétaires</a:t>
            </a:r>
            <a:endParaRPr lang="en-US" sz="975" dirty="0"/>
          </a:p>
        </p:txBody>
      </p:sp>
      <p:sp>
        <p:nvSpPr>
          <p:cNvPr id="34" name="Text 26"/>
          <p:cNvSpPr/>
          <p:nvPr/>
        </p:nvSpPr>
        <p:spPr>
          <a:xfrm>
            <a:off x="7581900" y="1509713"/>
            <a:ext cx="18702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</a:t>
            </a:r>
            <a:endParaRPr lang="en-US" sz="2550" dirty="0"/>
          </a:p>
        </p:txBody>
      </p:sp>
      <p:sp>
        <p:nvSpPr>
          <p:cNvPr id="35" name="Shape 27"/>
          <p:cNvSpPr/>
          <p:nvPr/>
        </p:nvSpPr>
        <p:spPr>
          <a:xfrm>
            <a:off x="9672638" y="1090613"/>
            <a:ext cx="2138363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891713" y="1290638"/>
            <a:ext cx="1870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Signalements</a:t>
            </a:r>
            <a:endParaRPr lang="en-US" sz="975" dirty="0"/>
          </a:p>
        </p:txBody>
      </p:sp>
      <p:sp>
        <p:nvSpPr>
          <p:cNvPr id="37" name="Text 29"/>
          <p:cNvSpPr/>
          <p:nvPr/>
        </p:nvSpPr>
        <p:spPr>
          <a:xfrm>
            <a:off x="9891713" y="1509713"/>
            <a:ext cx="18702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38" name="Text 30"/>
          <p:cNvSpPr/>
          <p:nvPr/>
        </p:nvSpPr>
        <p:spPr>
          <a:xfrm>
            <a:off x="2743200" y="2386013"/>
            <a:ext cx="315732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en attente de validation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11356628" y="2443163"/>
            <a:ext cx="5305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tout</a:t>
            </a:r>
            <a:endParaRPr lang="en-US" sz="975" dirty="0"/>
          </a:p>
        </p:txBody>
      </p:sp>
      <p:sp>
        <p:nvSpPr>
          <p:cNvPr id="40" name="Shape 32"/>
          <p:cNvSpPr/>
          <p:nvPr/>
        </p:nvSpPr>
        <p:spPr>
          <a:xfrm>
            <a:off x="2743200" y="2733675"/>
            <a:ext cx="9067800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F0E8DD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2752725" y="2743200"/>
            <a:ext cx="9048750" cy="400050"/>
          </a:xfrm>
          <a:prstGeom prst="rect">
            <a:avLst/>
          </a:prstGeom>
          <a:solidFill>
            <a:srgbClr val="F8F2E9"/>
          </a:solidFill>
          <a:ln/>
        </p:spPr>
      </p:sp>
      <p:sp>
        <p:nvSpPr>
          <p:cNvPr id="42" name="Text 34"/>
          <p:cNvSpPr/>
          <p:nvPr/>
        </p:nvSpPr>
        <p:spPr>
          <a:xfrm>
            <a:off x="2981325" y="2876550"/>
            <a:ext cx="31070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" kern="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LOGEMENT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5805934" y="2876550"/>
            <a:ext cx="18124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" kern="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453610" y="2876550"/>
            <a:ext cx="12531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" kern="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QUARTIER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8630543" y="2876550"/>
            <a:ext cx="12531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7" kern="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LOYER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630943" y="2876550"/>
            <a:ext cx="19418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spc="27" kern="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2752725" y="3143250"/>
            <a:ext cx="9048750" cy="9525"/>
          </a:xfrm>
          <a:prstGeom prst="rect">
            <a:avLst/>
          </a:prstGeom>
          <a:solidFill>
            <a:srgbClr val="F4ECE1"/>
          </a:solidFill>
          <a:ln/>
        </p:spPr>
      </p:sp>
      <p:sp>
        <p:nvSpPr>
          <p:cNvPr id="48" name="Shape 40"/>
          <p:cNvSpPr/>
          <p:nvPr/>
        </p:nvSpPr>
        <p:spPr>
          <a:xfrm>
            <a:off x="2981325" y="3295650"/>
            <a:ext cx="457200" cy="381000"/>
          </a:xfrm>
          <a:prstGeom prst="roundRect">
            <a:avLst>
              <a:gd name="adj" fmla="val 22500"/>
            </a:avLst>
          </a:prstGeom>
          <a:solidFill>
            <a:srgbClr val="EFE6DB"/>
          </a:solidFill>
          <a:ln/>
        </p:spPr>
      </p:sp>
      <p:sp>
        <p:nvSpPr>
          <p:cNvPr id="49" name="Text 41"/>
          <p:cNvSpPr/>
          <p:nvPr/>
        </p:nvSpPr>
        <p:spPr>
          <a:xfrm>
            <a:off x="3552825" y="3336131"/>
            <a:ext cx="928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meublé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3552825" y="3488531"/>
            <a:ext cx="92876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y a 2 h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5805934" y="3400425"/>
            <a:ext cx="18124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Aminata Diop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7453610" y="3400425"/>
            <a:ext cx="12531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8630543" y="3409950"/>
            <a:ext cx="12531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125 000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10168607" y="3326606"/>
            <a:ext cx="643012" cy="319088"/>
          </a:xfrm>
          <a:prstGeom prst="roundRect">
            <a:avLst>
              <a:gd name="adj" fmla="val 26866"/>
            </a:avLst>
          </a:prstGeom>
          <a:solidFill>
            <a:srgbClr val="3C8C5E"/>
          </a:solidFill>
          <a:ln/>
        </p:spPr>
      </p:sp>
      <p:sp>
        <p:nvSpPr>
          <p:cNvPr id="55" name="Text 47"/>
          <p:cNvSpPr/>
          <p:nvPr/>
        </p:nvSpPr>
        <p:spPr>
          <a:xfrm>
            <a:off x="10301957" y="3402806"/>
            <a:ext cx="4525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975" dirty="0"/>
          </a:p>
        </p:txBody>
      </p:sp>
      <p:sp>
        <p:nvSpPr>
          <p:cNvPr id="56" name="Shape 48"/>
          <p:cNvSpPr/>
          <p:nvPr/>
        </p:nvSpPr>
        <p:spPr>
          <a:xfrm>
            <a:off x="10887819" y="3326606"/>
            <a:ext cx="684981" cy="319088"/>
          </a:xfrm>
          <a:prstGeom prst="roundRect">
            <a:avLst>
              <a:gd name="adj" fmla="val 26866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11030694" y="3412331"/>
            <a:ext cx="47543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</a:t>
            </a:r>
            <a:endParaRPr lang="en-US" sz="975" dirty="0"/>
          </a:p>
        </p:txBody>
      </p:sp>
      <p:sp>
        <p:nvSpPr>
          <p:cNvPr id="58" name="Shape 50"/>
          <p:cNvSpPr/>
          <p:nvPr/>
        </p:nvSpPr>
        <p:spPr>
          <a:xfrm>
            <a:off x="2752725" y="3819525"/>
            <a:ext cx="9048750" cy="9525"/>
          </a:xfrm>
          <a:prstGeom prst="rect">
            <a:avLst/>
          </a:prstGeom>
          <a:solidFill>
            <a:srgbClr val="F4ECE1"/>
          </a:solidFill>
          <a:ln/>
        </p:spPr>
      </p:sp>
      <p:sp>
        <p:nvSpPr>
          <p:cNvPr id="59" name="Shape 51"/>
          <p:cNvSpPr/>
          <p:nvPr/>
        </p:nvSpPr>
        <p:spPr>
          <a:xfrm>
            <a:off x="2981325" y="3971925"/>
            <a:ext cx="457200" cy="381000"/>
          </a:xfrm>
          <a:prstGeom prst="roundRect">
            <a:avLst>
              <a:gd name="adj" fmla="val 22500"/>
            </a:avLst>
          </a:prstGeom>
          <a:solidFill>
            <a:srgbClr val="ECE7DC"/>
          </a:solidFill>
          <a:ln/>
        </p:spPr>
      </p:sp>
      <p:sp>
        <p:nvSpPr>
          <p:cNvPr id="60" name="Text 52"/>
          <p:cNvSpPr/>
          <p:nvPr/>
        </p:nvSpPr>
        <p:spPr>
          <a:xfrm>
            <a:off x="3552825" y="4012406"/>
            <a:ext cx="14269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Appartement 3 pièces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3552825" y="4164806"/>
            <a:ext cx="142698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y a 5 h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5805934" y="4076700"/>
            <a:ext cx="18124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Ousmane Ba</a:t>
            </a:r>
            <a:endParaRPr lang="en-US" sz="1050" dirty="0"/>
          </a:p>
        </p:txBody>
      </p:sp>
      <p:sp>
        <p:nvSpPr>
          <p:cNvPr id="63" name="Text 55"/>
          <p:cNvSpPr/>
          <p:nvPr/>
        </p:nvSpPr>
        <p:spPr>
          <a:xfrm>
            <a:off x="7453610" y="4076700"/>
            <a:ext cx="12531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Almadies</a:t>
            </a:r>
            <a:endParaRPr lang="en-US" sz="1050" dirty="0"/>
          </a:p>
        </p:txBody>
      </p:sp>
      <p:sp>
        <p:nvSpPr>
          <p:cNvPr id="64" name="Text 56"/>
          <p:cNvSpPr/>
          <p:nvPr/>
        </p:nvSpPr>
        <p:spPr>
          <a:xfrm>
            <a:off x="8630543" y="4086225"/>
            <a:ext cx="12531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380 000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10168607" y="4002881"/>
            <a:ext cx="643012" cy="319088"/>
          </a:xfrm>
          <a:prstGeom prst="roundRect">
            <a:avLst>
              <a:gd name="adj" fmla="val 26866"/>
            </a:avLst>
          </a:prstGeom>
          <a:solidFill>
            <a:srgbClr val="3C8C5E"/>
          </a:solidFill>
          <a:ln/>
        </p:spPr>
      </p:sp>
      <p:sp>
        <p:nvSpPr>
          <p:cNvPr id="66" name="Text 58"/>
          <p:cNvSpPr/>
          <p:nvPr/>
        </p:nvSpPr>
        <p:spPr>
          <a:xfrm>
            <a:off x="10301957" y="4079081"/>
            <a:ext cx="4525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975" dirty="0"/>
          </a:p>
        </p:txBody>
      </p:sp>
      <p:sp>
        <p:nvSpPr>
          <p:cNvPr id="67" name="Shape 59"/>
          <p:cNvSpPr/>
          <p:nvPr/>
        </p:nvSpPr>
        <p:spPr>
          <a:xfrm>
            <a:off x="10887819" y="4002881"/>
            <a:ext cx="684981" cy="319088"/>
          </a:xfrm>
          <a:prstGeom prst="roundRect">
            <a:avLst>
              <a:gd name="adj" fmla="val 26866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11030694" y="4088606"/>
            <a:ext cx="47543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</a:t>
            </a:r>
            <a:endParaRPr lang="en-US" sz="975" dirty="0"/>
          </a:p>
        </p:txBody>
      </p:sp>
      <p:sp>
        <p:nvSpPr>
          <p:cNvPr id="69" name="Shape 61"/>
          <p:cNvSpPr/>
          <p:nvPr/>
        </p:nvSpPr>
        <p:spPr>
          <a:xfrm>
            <a:off x="2752725" y="4495800"/>
            <a:ext cx="9048750" cy="9525"/>
          </a:xfrm>
          <a:prstGeom prst="rect">
            <a:avLst/>
          </a:prstGeom>
          <a:solidFill>
            <a:srgbClr val="F4ECE1"/>
          </a:solidFill>
          <a:ln/>
        </p:spPr>
      </p:sp>
      <p:sp>
        <p:nvSpPr>
          <p:cNvPr id="70" name="Shape 62"/>
          <p:cNvSpPr/>
          <p:nvPr/>
        </p:nvSpPr>
        <p:spPr>
          <a:xfrm>
            <a:off x="2981325" y="4648200"/>
            <a:ext cx="457200" cy="381000"/>
          </a:xfrm>
          <a:prstGeom prst="roundRect">
            <a:avLst>
              <a:gd name="adj" fmla="val 22500"/>
            </a:avLst>
          </a:prstGeom>
          <a:solidFill>
            <a:srgbClr val="E7E0D3"/>
          </a:solidFill>
          <a:ln/>
        </p:spPr>
      </p:sp>
      <p:sp>
        <p:nvSpPr>
          <p:cNvPr id="71" name="Text 63"/>
          <p:cNvSpPr/>
          <p:nvPr/>
        </p:nvSpPr>
        <p:spPr>
          <a:xfrm>
            <a:off x="3552825" y="4688681"/>
            <a:ext cx="11732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Chambre meublée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3552825" y="4841081"/>
            <a:ext cx="117321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y a 8 h</a:t>
            </a:r>
            <a:endParaRPr lang="en-US" sz="900" dirty="0"/>
          </a:p>
        </p:txBody>
      </p:sp>
      <p:sp>
        <p:nvSpPr>
          <p:cNvPr id="73" name="Text 65"/>
          <p:cNvSpPr/>
          <p:nvPr/>
        </p:nvSpPr>
        <p:spPr>
          <a:xfrm>
            <a:off x="5805934" y="4752975"/>
            <a:ext cx="18124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Ndiaye</a:t>
            </a:r>
            <a:endParaRPr lang="en-US" sz="1050" dirty="0"/>
          </a:p>
        </p:txBody>
      </p:sp>
      <p:sp>
        <p:nvSpPr>
          <p:cNvPr id="74" name="Text 66"/>
          <p:cNvSpPr/>
          <p:nvPr/>
        </p:nvSpPr>
        <p:spPr>
          <a:xfrm>
            <a:off x="7453610" y="4752975"/>
            <a:ext cx="12531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A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Médina</a:t>
            </a:r>
            <a:endParaRPr lang="en-US" sz="1050" dirty="0"/>
          </a:p>
        </p:txBody>
      </p:sp>
      <p:sp>
        <p:nvSpPr>
          <p:cNvPr id="75" name="Text 67"/>
          <p:cNvSpPr/>
          <p:nvPr/>
        </p:nvSpPr>
        <p:spPr>
          <a:xfrm>
            <a:off x="8630543" y="4762500"/>
            <a:ext cx="12531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</a:t>
            </a:r>
            <a:endParaRPr lang="en-US" sz="1050" dirty="0"/>
          </a:p>
        </p:txBody>
      </p:sp>
      <p:sp>
        <p:nvSpPr>
          <p:cNvPr id="76" name="Shape 68"/>
          <p:cNvSpPr/>
          <p:nvPr/>
        </p:nvSpPr>
        <p:spPr>
          <a:xfrm>
            <a:off x="10168607" y="4679156"/>
            <a:ext cx="643012" cy="319088"/>
          </a:xfrm>
          <a:prstGeom prst="roundRect">
            <a:avLst>
              <a:gd name="adj" fmla="val 26866"/>
            </a:avLst>
          </a:prstGeom>
          <a:solidFill>
            <a:srgbClr val="3C8C5E"/>
          </a:solidFill>
          <a:ln/>
        </p:spPr>
      </p:sp>
      <p:sp>
        <p:nvSpPr>
          <p:cNvPr id="77" name="Text 69"/>
          <p:cNvSpPr/>
          <p:nvPr/>
        </p:nvSpPr>
        <p:spPr>
          <a:xfrm>
            <a:off x="10301957" y="4755356"/>
            <a:ext cx="4525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975" dirty="0"/>
          </a:p>
        </p:txBody>
      </p:sp>
      <p:sp>
        <p:nvSpPr>
          <p:cNvPr id="78" name="Shape 70"/>
          <p:cNvSpPr/>
          <p:nvPr/>
        </p:nvSpPr>
        <p:spPr>
          <a:xfrm>
            <a:off x="10887819" y="4679156"/>
            <a:ext cx="684981" cy="319088"/>
          </a:xfrm>
          <a:prstGeom prst="roundRect">
            <a:avLst>
              <a:gd name="adj" fmla="val 26866"/>
            </a:avLst>
          </a:prstGeom>
          <a:solidFill>
            <a:srgbClr val="FFFFFF"/>
          </a:solidFill>
          <a:ln w="9525">
            <a:solidFill>
              <a:srgbClr val="EADFD2"/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11030694" y="4764881"/>
            <a:ext cx="47543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E4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Rejeter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2026-06-19T18:50:11Z</dcterms:created>
  <dcterms:modified xsi:type="dcterms:W3CDTF">2026-06-19T18:50:11Z</dcterms:modified>
</cp:coreProperties>
</file>